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d40c53a5c54473" /><Relationship Type="http://schemas.openxmlformats.org/officeDocument/2006/relationships/extended-properties" Target="/docProps/app.xml" Id="R40d34c1204364916" /><Relationship Type="http://schemas.openxmlformats.org/officeDocument/2006/relationships/officeDocument" Target="/ppt/presentation.xml" Id="R08420dd9f4e841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ff5556fc1d4c5f"/>
  </p:sldMasterIdLst>
  <p:notesMasterIdLst>
    <p:notesMasterId xmlns:r="http://schemas.openxmlformats.org/officeDocument/2006/relationships" r:id="Rbde84cedfa50431d"/>
  </p:notesMasterIdLst>
  <p:sldIdLst>
    <p:sldId xmlns:r="http://schemas.openxmlformats.org/officeDocument/2006/relationships" id="256" r:id="R393a92327c4245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4fbe4653444f53" /><Relationship Type="http://schemas.openxmlformats.org/officeDocument/2006/relationships/slideMaster" Target="/ppt/slideMasters/slideMaster1.xml" Id="R94ff5556fc1d4c5f" /><Relationship Type="http://schemas.openxmlformats.org/officeDocument/2006/relationships/notesMaster" Target="/ppt/notesMasters/notesMaster1.xml" Id="Rbde84cedfa50431d" /><Relationship Type="http://schemas.openxmlformats.org/officeDocument/2006/relationships/presProps" Target="/ppt/presProps.xml" Id="R837621acd4084734" /><Relationship Type="http://schemas.openxmlformats.org/officeDocument/2006/relationships/tableStyles" Target="/ppt/tableStyles.xml" Id="Rf3fdeb6c91e343e2" /><Relationship Type="http://schemas.openxmlformats.org/officeDocument/2006/relationships/slide" Target="/ppt/slides/slide1.xml" Id="R393a92327c42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6115a503942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cee89d4d614f8a" /><Relationship Type="http://schemas.openxmlformats.org/officeDocument/2006/relationships/notesMaster" Target="/ppt/notesMasters/notesMaster1.xml" Id="R3b6affe7d74f45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wrapper: C:/Users/28211/Documents/Codex/2026-08-13/codex-threads-019fb778-09b4-7660-8613/a2g_architecture_figure_20260819/sources/a2g_mambakt_final.py (SHA256 509189b84aeb383d712945ab90b5992e0d76359f292df3f9ddfca726993584b9)</a:t>
            </a:r>
          </a:p>
          <a:p xmlns:a="http://schemas.openxmlformats.org/drawingml/2006/main">
            <a:r>
              <a:t>- Executed trainer and configuration: C:/Users/28211/Documents/Codex/2026-08-13/codex-threads-019fb778-09b4-7660-8613/item_dropout40_full_junyi_validation_20260822_v2_172/preregistration.json</a:t>
            </a:r>
          </a:p>
          <a:p xmlns:a="http://schemas.openxmlformats.org/drawingml/2006/main">
            <a:r>
              <a:t>- Objective status: C:/Users/28211/Documents/Codex/2026-08-13/codex-threads-019fb778-09b4-7660-8613/outputs/A2G_ITER0_OBJECTIVE_STATUS_20260824.json</a:t>
            </a:r>
          </a:p>
          <a:p xmlns:a="http://schemas.openxmlformats.org/drawingml/2006/main">
            <a:r>
              <a:t>- Module coverage: C:/Users/28211/Documents/Codex/2026-08-13/codex-threads-019fb778-09b4-7660-8613/outputs/A2G_MODULE_ABLATION_COVERAGE_AUDIT_20260823.json</a:t>
            </a:r>
          </a:p>
          <a:p xmlns:a="http://schemas.openxmlformats.org/drawingml/2006/main">
            <a:r>
              <a:t>- Visual vocabulary: WisArt official API board preserved from the referenced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a08f4482a4d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5418a722884286" /><Relationship Type="http://schemas.openxmlformats.org/officeDocument/2006/relationships/slideLayout" Target="/ppt/slideLayouts/slideLayout1.xml" Id="R40751e23c2d24a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51e23c2d24a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2e0e2c5e24aea" /><Relationship Type="http://schemas.openxmlformats.org/officeDocument/2006/relationships/notesSlide" Target="/ppt/notesSlides/notesSlide1.xml" Id="R194c2f1375e24c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input-band">
            <a:extLst xmlns:a="http://schemas.openxmlformats.org/drawingml/2006/main">
              <a:ext uri="{FF2B5EF4-FFF2-40B4-BE49-F238E27FC236}">
                <a16:creationId xmlns:a16="http://schemas.microsoft.com/office/drawing/2014/main" id="{E57F1816-1635-424B-B90C-6B5FFE12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7650"/>
            <a:ext cx="2000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put-band-separator">
            <a:extLst xmlns:a="http://schemas.openxmlformats.org/drawingml/2006/main">
              <a:ext uri="{FF2B5EF4-FFF2-40B4-BE49-F238E27FC236}">
                <a16:creationId xmlns:a16="http://schemas.microsoft.com/office/drawing/2014/main" id="{5790F5F1-021F-43A6-8572-805974A6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0050"/>
            <a:ext cx="953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E1E8"/>
            </a:solidFill>
            <a:prstDash val="solid"/>
          </a:ln>
        </p:spPr>
      </p:sp>
      <p:sp>
        <p:nvSpPr>
          <p:cNvPr id="3" name="input-band-label">
            <a:extLst xmlns:a="http://schemas.openxmlformats.org/drawingml/2006/main">
              <a:ext uri="{FF2B5EF4-FFF2-40B4-BE49-F238E27FC236}">
                <a16:creationId xmlns:a16="http://schemas.microsoft.com/office/drawing/2014/main" id="{385BF196-486B-48A7-A435-71CAA66A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19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1  CAUSAL INPUT</a:t>
            </a:r>
          </a:p>
        </p:txBody>
      </p:sp>
      <p:sp>
        <p:nvSpPr>
          <p:cNvPr id="4" name="input-band-title">
            <a:extLst xmlns:a="http://schemas.openxmlformats.org/drawingml/2006/main">
              <a:ext uri="{FF2B5EF4-FFF2-40B4-BE49-F238E27FC236}">
                <a16:creationId xmlns:a16="http://schemas.microsoft.com/office/drawing/2014/main" id="{EBEC259B-A56E-4846-B83C-C06B617F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Shifted</a:t>
            </a:r>
          </a:p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5" name="evidence-band">
            <a:extLst xmlns:a="http://schemas.openxmlformats.org/drawingml/2006/main">
              <a:ext uri="{FF2B5EF4-FFF2-40B4-BE49-F238E27FC236}">
                <a16:creationId xmlns:a16="http://schemas.microsoft.com/office/drawing/2014/main" id="{604A8ED0-78EA-4575-A816-9092D410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7650"/>
            <a:ext cx="2000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idence-band-separator">
            <a:extLst xmlns:a="http://schemas.openxmlformats.org/drawingml/2006/main">
              <a:ext uri="{FF2B5EF4-FFF2-40B4-BE49-F238E27FC236}">
                <a16:creationId xmlns:a16="http://schemas.microsoft.com/office/drawing/2014/main" id="{0F774416-976D-48DB-A02B-E2BF551E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"/>
            <a:ext cx="953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E1E8"/>
            </a:solidFill>
            <a:prstDash val="solid"/>
          </a:ln>
        </p:spPr>
      </p:sp>
      <p:sp>
        <p:nvSpPr>
          <p:cNvPr id="7" name="evidence-band-label">
            <a:extLst xmlns:a="http://schemas.openxmlformats.org/drawingml/2006/main">
              <a:ext uri="{FF2B5EF4-FFF2-40B4-BE49-F238E27FC236}">
                <a16:creationId xmlns:a16="http://schemas.microsoft.com/office/drawing/2014/main" id="{B3DAEAAA-2ED8-41CE-8ED0-6F5537AA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19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2  FOLD-LOCAL</a:t>
            </a:r>
          </a:p>
        </p:txBody>
      </p:sp>
      <p:sp>
        <p:nvSpPr>
          <p:cNvPr id="8" name="evidence-band-title">
            <a:extLst xmlns:a="http://schemas.openxmlformats.org/drawingml/2006/main">
              <a:ext uri="{FF2B5EF4-FFF2-40B4-BE49-F238E27FC236}">
                <a16:creationId xmlns:a16="http://schemas.microsoft.com/office/drawing/2014/main" id="{50A1AFB1-113F-4B29-9846-305CD727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477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Prior + causal</a:t>
            </a:r>
          </a:p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statistics</a:t>
            </a:r>
          </a:p>
        </p:txBody>
      </p:sp>
      <p:sp>
        <p:nvSpPr>
          <p:cNvPr id="9" name="state-band">
            <a:extLst xmlns:a="http://schemas.openxmlformats.org/drawingml/2006/main">
              <a:ext uri="{FF2B5EF4-FFF2-40B4-BE49-F238E27FC236}">
                <a16:creationId xmlns:a16="http://schemas.microsoft.com/office/drawing/2014/main" id="{B6425EC2-5224-4AE5-8792-C948012D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"/>
            <a:ext cx="32385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B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e-band-separator">
            <a:extLst xmlns:a="http://schemas.openxmlformats.org/drawingml/2006/main">
              <a:ext uri="{FF2B5EF4-FFF2-40B4-BE49-F238E27FC236}">
                <a16:creationId xmlns:a16="http://schemas.microsoft.com/office/drawing/2014/main" id="{EF4CBE55-BB97-4A16-9D4C-79B6170C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0050"/>
            <a:ext cx="953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E1E8"/>
            </a:solidFill>
            <a:prstDash val="solid"/>
          </a:ln>
        </p:spPr>
      </p:sp>
      <p:sp>
        <p:nvSpPr>
          <p:cNvPr id="11" name="state-band-label">
            <a:extLst xmlns:a="http://schemas.openxmlformats.org/drawingml/2006/main">
              <a:ext uri="{FF2B5EF4-FFF2-40B4-BE49-F238E27FC236}">
                <a16:creationId xmlns:a16="http://schemas.microsoft.com/office/drawing/2014/main" id="{A87CD1B4-BF57-4641-B37D-52C55E95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1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3  SELECTIVE STATE</a:t>
            </a:r>
          </a:p>
        </p:txBody>
      </p:sp>
      <p:sp>
        <p:nvSpPr>
          <p:cNvPr id="12" name="state-band-title">
            <a:extLst xmlns:a="http://schemas.openxmlformats.org/drawingml/2006/main">
              <a:ext uri="{FF2B5EF4-FFF2-40B4-BE49-F238E27FC236}">
                <a16:creationId xmlns:a16="http://schemas.microsoft.com/office/drawing/2014/main" id="{3D597B44-CB64-472F-8F3D-A7590B16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77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Supported core</a:t>
            </a:r>
          </a:p>
        </p:txBody>
      </p:sp>
      <p:sp>
        <p:nvSpPr>
          <p:cNvPr id="13" name="attention-band">
            <a:extLst xmlns:a="http://schemas.openxmlformats.org/drawingml/2006/main">
              <a:ext uri="{FF2B5EF4-FFF2-40B4-BE49-F238E27FC236}">
                <a16:creationId xmlns:a16="http://schemas.microsoft.com/office/drawing/2014/main" id="{B1CD05CF-BA01-497B-B303-1BBD69B8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"/>
            <a:ext cx="21907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ttention-band-separator">
            <a:extLst xmlns:a="http://schemas.openxmlformats.org/drawingml/2006/main">
              <a:ext uri="{FF2B5EF4-FFF2-40B4-BE49-F238E27FC236}">
                <a16:creationId xmlns:a16="http://schemas.microsoft.com/office/drawing/2014/main" id="{2EC2066D-764E-4771-A749-09B89A0C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"/>
            <a:ext cx="953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E1E8"/>
            </a:solidFill>
            <a:prstDash val="solid"/>
          </a:ln>
        </p:spPr>
      </p:sp>
      <p:sp>
        <p:nvSpPr>
          <p:cNvPr id="15" name="attention-band-label">
            <a:extLst xmlns:a="http://schemas.openxmlformats.org/drawingml/2006/main">
              <a:ext uri="{FF2B5EF4-FFF2-40B4-BE49-F238E27FC236}">
                <a16:creationId xmlns:a16="http://schemas.microsoft.com/office/drawing/2014/main" id="{B4785CEA-2257-4258-B3CE-F2DCFE6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19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4  EXECUTED BACKBONE</a:t>
            </a:r>
          </a:p>
        </p:txBody>
      </p:sp>
      <p:sp>
        <p:nvSpPr>
          <p:cNvPr id="16" name="attention-band-title">
            <a:extLst xmlns:a="http://schemas.openxmlformats.org/drawingml/2006/main">
              <a:ext uri="{FF2B5EF4-FFF2-40B4-BE49-F238E27FC236}">
                <a16:creationId xmlns:a16="http://schemas.microsoft.com/office/drawing/2014/main" id="{FE131672-9F5C-41A7-B751-B251244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77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Causal post-norm</a:t>
            </a:r>
          </a:p>
        </p:txBody>
      </p:sp>
      <p:sp>
        <p:nvSpPr>
          <p:cNvPr id="17" name="prediction-band">
            <a:extLst xmlns:a="http://schemas.openxmlformats.org/drawingml/2006/main">
              <a:ext uri="{FF2B5EF4-FFF2-40B4-BE49-F238E27FC236}">
                <a16:creationId xmlns:a16="http://schemas.microsoft.com/office/drawing/2014/main" id="{7415B357-E81B-466F-AA0A-1964CC2B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"/>
            <a:ext cx="23050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ediction-band-separator">
            <a:extLst xmlns:a="http://schemas.openxmlformats.org/drawingml/2006/main">
              <a:ext uri="{FF2B5EF4-FFF2-40B4-BE49-F238E27FC236}">
                <a16:creationId xmlns:a16="http://schemas.microsoft.com/office/drawing/2014/main" id="{17D5CA46-42A6-4260-8E4F-172DC175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00050"/>
            <a:ext cx="953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E1E8"/>
            </a:solidFill>
            <a:prstDash val="solid"/>
          </a:ln>
        </p:spPr>
      </p:sp>
      <p:sp>
        <p:nvSpPr>
          <p:cNvPr id="19" name="prediction-band-label">
            <a:extLst xmlns:a="http://schemas.openxmlformats.org/drawingml/2006/main">
              <a:ext uri="{FF2B5EF4-FFF2-40B4-BE49-F238E27FC236}">
                <a16:creationId xmlns:a16="http://schemas.microsoft.com/office/drawing/2014/main" id="{7E5511D6-2C38-48A4-8168-97727997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1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5  PREDICTION</a:t>
            </a:r>
          </a:p>
        </p:txBody>
      </p:sp>
      <p:sp>
        <p:nvSpPr>
          <p:cNvPr id="20" name="prediction-band-title">
            <a:extLst xmlns:a="http://schemas.openxmlformats.org/drawingml/2006/main">
              <a:ext uri="{FF2B5EF4-FFF2-40B4-BE49-F238E27FC236}">
                <a16:creationId xmlns:a16="http://schemas.microsoft.com/office/drawing/2014/main" id="{A84B7321-28BA-483F-AE41-1CC9C79A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477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Three-path</a:t>
            </a:r>
          </a:p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logit fusion</a:t>
            </a:r>
          </a:p>
        </p:txBody>
      </p:sp>
      <p:sp>
        <p:nvSpPr>
          <p:cNvPr id="21" name="target-token">
            <a:extLst xmlns:a="http://schemas.openxmlformats.org/drawingml/2006/main">
              <a:ext uri="{FF2B5EF4-FFF2-40B4-BE49-F238E27FC236}">
                <a16:creationId xmlns:a16="http://schemas.microsoft.com/office/drawing/2014/main" id="{B99052FA-BC0D-4964-9B82-26804AD2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581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6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</p:sp>
      <p:sp>
        <p:nvSpPr>
          <p:cNvPr id="22" name="target-token-title">
            <a:extLst xmlns:a="http://schemas.openxmlformats.org/drawingml/2006/main">
              <a:ext uri="{FF2B5EF4-FFF2-40B4-BE49-F238E27FC236}">
                <a16:creationId xmlns:a16="http://schemas.microsoft.com/office/drawing/2014/main" id="{8A225D0A-F9E0-4FC7-833B-7D651BF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Target token</a:t>
            </a:r>
          </a:p>
        </p:txBody>
      </p:sp>
      <p:sp>
        <p:nvSpPr>
          <p:cNvPr id="23" name="target-token-subtitle">
            <a:extLst xmlns:a="http://schemas.openxmlformats.org/drawingml/2006/main">
              <a:ext uri="{FF2B5EF4-FFF2-40B4-BE49-F238E27FC236}">
                <a16:creationId xmlns:a16="http://schemas.microsoft.com/office/drawing/2014/main" id="{D0C6914A-A650-4BA4-B715-BD6AA184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item + concept</a:t>
            </a:r>
          </a:p>
        </p:txBody>
      </p:sp>
      <p:sp>
        <p:nvSpPr>
          <p:cNvPr id="24" name="target-dot">
            <a:extLst xmlns:a="http://schemas.openxmlformats.org/drawingml/2006/main">
              <a:ext uri="{FF2B5EF4-FFF2-40B4-BE49-F238E27FC236}">
                <a16:creationId xmlns:a16="http://schemas.microsoft.com/office/drawing/2014/main" id="{13B2B9B1-2AED-46BD-B9B9-08AACAC2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00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25" name="history-token">
            <a:extLst xmlns:a="http://schemas.openxmlformats.org/drawingml/2006/main">
              <a:ext uri="{FF2B5EF4-FFF2-40B4-BE49-F238E27FC236}">
                <a16:creationId xmlns:a16="http://schemas.microsoft.com/office/drawing/2014/main" id="{AD6761F7-59D7-4BE8-B803-BB16AC75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05150"/>
            <a:ext cx="1581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F6A58"/>
            </a:solidFill>
            <a:prstDash val="solid"/>
          </a:ln>
        </p:spPr>
      </p:sp>
      <p:sp>
        <p:nvSpPr>
          <p:cNvPr id="26" name="history-token-title">
            <a:extLst xmlns:a="http://schemas.openxmlformats.org/drawingml/2006/main">
              <a:ext uri="{FF2B5EF4-FFF2-40B4-BE49-F238E27FC236}">
                <a16:creationId xmlns:a16="http://schemas.microsoft.com/office/drawing/2014/main" id="{F9704E3E-60AE-4D28-9C1D-8380356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71825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History token</a:t>
            </a:r>
          </a:p>
        </p:txBody>
      </p:sp>
      <p:sp>
        <p:nvSpPr>
          <p:cNvPr id="27" name="history-token-subtitle">
            <a:extLst xmlns:a="http://schemas.openxmlformats.org/drawingml/2006/main">
              <a:ext uri="{FF2B5EF4-FFF2-40B4-BE49-F238E27FC236}">
                <a16:creationId xmlns:a16="http://schemas.microsoft.com/office/drawing/2014/main" id="{B9E84AC4-283D-4BBA-87A6-121E973D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693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item + concept</a:t>
            </a:r>
          </a:p>
          <a:p xmlns:a="http://schemas.openxmlformats.org/drawingml/2006/main">
            <a:pPr algn="l">
              <a:defRPr sz="1238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+ observed response</a:t>
            </a:r>
          </a:p>
        </p:txBody>
      </p:sp>
      <p:sp>
        <p:nvSpPr>
          <p:cNvPr id="28" name="history-dot">
            <a:extLst xmlns:a="http://schemas.openxmlformats.org/drawingml/2006/main">
              <a:ext uri="{FF2B5EF4-FFF2-40B4-BE49-F238E27FC236}">
                <a16:creationId xmlns:a16="http://schemas.microsoft.com/office/drawing/2014/main" id="{2C3C27BB-6B87-403F-9BB7-3EFA2FB9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29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8"/>
          </a:solidFill>
          <a:ln xmlns:a="http://schemas.openxmlformats.org/drawingml/2006/main" w="0">
            <a:solidFill>
              <a:srgbClr val="EF6A58"/>
            </a:solidFill>
            <a:prstDash val="solid"/>
          </a:ln>
        </p:spPr>
      </p:sp>
      <p:sp>
        <p:nvSpPr>
          <p:cNvPr id="29" name="empirical-priors">
            <a:extLst xmlns:a="http://schemas.openxmlformats.org/drawingml/2006/main">
              <a:ext uri="{FF2B5EF4-FFF2-40B4-BE49-F238E27FC236}">
                <a16:creationId xmlns:a16="http://schemas.microsoft.com/office/drawing/2014/main" id="{CA5A1389-F988-40CC-9416-99A2F489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09725"/>
            <a:ext cx="1562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11430">
            <a:solidFill>
              <a:srgbClr val="D79A22"/>
            </a:solidFill>
            <a:prstDash val="solid"/>
          </a:ln>
        </p:spPr>
      </p:sp>
      <p:sp>
        <p:nvSpPr>
          <p:cNvPr id="30" name="empirical-priors-title">
            <a:extLst xmlns:a="http://schemas.openxmlformats.org/drawingml/2006/main">
              <a:ext uri="{FF2B5EF4-FFF2-40B4-BE49-F238E27FC236}">
                <a16:creationId xmlns:a16="http://schemas.microsoft.com/office/drawing/2014/main" id="{45C46D20-CFCB-45E6-B070-CF4636A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676400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7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Empirical priors</a:t>
            </a:r>
          </a:p>
        </p:txBody>
      </p:sp>
      <p:sp>
        <p:nvSpPr>
          <p:cNvPr id="31" name="empirical-priors-subtitle">
            <a:extLst xmlns:a="http://schemas.openxmlformats.org/drawingml/2006/main">
              <a:ext uri="{FF2B5EF4-FFF2-40B4-BE49-F238E27FC236}">
                <a16:creationId xmlns:a16="http://schemas.microsoft.com/office/drawing/2014/main" id="{93EE1AEA-8077-402A-95B6-4C33985C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335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item + concept</a:t>
            </a:r>
          </a:p>
          <a:p xmlns:a="http://schemas.openxmlformats.org/drawingml/2006/main">
            <a:pPr algn="l">
              <a:defRPr sz="1238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training fold only</a:t>
            </a:r>
          </a:p>
        </p:txBody>
      </p:sp>
      <p:sp>
        <p:nvSpPr>
          <p:cNvPr id="32" name="rwce-stats">
            <a:extLst xmlns:a="http://schemas.openxmlformats.org/drawingml/2006/main">
              <a:ext uri="{FF2B5EF4-FFF2-40B4-BE49-F238E27FC236}">
                <a16:creationId xmlns:a16="http://schemas.microsoft.com/office/drawing/2014/main" id="{AFB7F769-1871-4555-A42B-446A01FF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33675"/>
            <a:ext cx="15621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8F6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</p:sp>
      <p:sp>
        <p:nvSpPr>
          <p:cNvPr id="33" name="rwce-stats-title">
            <a:extLst xmlns:a="http://schemas.openxmlformats.org/drawingml/2006/main">
              <a:ext uri="{FF2B5EF4-FFF2-40B4-BE49-F238E27FC236}">
                <a16:creationId xmlns:a16="http://schemas.microsoft.com/office/drawing/2014/main" id="{B798749E-4FAC-4738-88BB-1C977F8D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00350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17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RWCE + 6 stats</a:t>
            </a:r>
          </a:p>
        </p:txBody>
      </p:sp>
      <p:sp>
        <p:nvSpPr>
          <p:cNvPr id="34" name="rwce-stats-subtitle">
            <a:extLst xmlns:a="http://schemas.openxmlformats.org/drawingml/2006/main">
              <a:ext uri="{FF2B5EF4-FFF2-40B4-BE49-F238E27FC236}">
                <a16:creationId xmlns:a16="http://schemas.microsoft.com/office/drawing/2014/main" id="{A4876FDF-70E2-430B-89D0-EF5CCDC1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57525"/>
            <a:ext cx="133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causal same-concept evidence</a:t>
            </a:r>
          </a:p>
        </p:txBody>
      </p:sp>
      <p:sp>
        <p:nvSpPr>
          <p:cNvPr id="35" name="rwce-bead-1">
            <a:extLst xmlns:a="http://schemas.openxmlformats.org/drawingml/2006/main">
              <a:ext uri="{FF2B5EF4-FFF2-40B4-BE49-F238E27FC236}">
                <a16:creationId xmlns:a16="http://schemas.microsoft.com/office/drawing/2014/main" id="{C5DB7581-A2F9-43FD-8AEE-755D0366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81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wce-bead-2">
            <a:extLst xmlns:a="http://schemas.openxmlformats.org/drawingml/2006/main">
              <a:ext uri="{FF2B5EF4-FFF2-40B4-BE49-F238E27FC236}">
                <a16:creationId xmlns:a16="http://schemas.microsoft.com/office/drawing/2014/main" id="{7A398E0B-6D71-4F5D-9DF5-4CA85D28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81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wce-bead-3">
            <a:extLst xmlns:a="http://schemas.openxmlformats.org/drawingml/2006/main">
              <a:ext uri="{FF2B5EF4-FFF2-40B4-BE49-F238E27FC236}">
                <a16:creationId xmlns:a16="http://schemas.microsoft.com/office/drawing/2014/main" id="{382C9DCD-282A-4AA5-9C0C-79C39126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581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C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wce-bead-4">
            <a:extLst xmlns:a="http://schemas.openxmlformats.org/drawingml/2006/main">
              <a:ext uri="{FF2B5EF4-FFF2-40B4-BE49-F238E27FC236}">
                <a16:creationId xmlns:a16="http://schemas.microsoft.com/office/drawing/2014/main" id="{619796EF-2242-4843-9C93-DD634144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581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wce-bead-5">
            <a:extLst xmlns:a="http://schemas.openxmlformats.org/drawingml/2006/main">
              <a:ext uri="{FF2B5EF4-FFF2-40B4-BE49-F238E27FC236}">
                <a16:creationId xmlns:a16="http://schemas.microsoft.com/office/drawing/2014/main" id="{4F051541-FF29-475D-B968-105B1E38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81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wce-bead-6">
            <a:extLst xmlns:a="http://schemas.openxmlformats.org/drawingml/2006/main">
              <a:ext uri="{FF2B5EF4-FFF2-40B4-BE49-F238E27FC236}">
                <a16:creationId xmlns:a16="http://schemas.microsoft.com/office/drawing/2014/main" id="{A42CFCD5-AC36-42C8-B6F3-878DFD88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81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7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wce-formula-label">
            <a:extLst xmlns:a="http://schemas.openxmlformats.org/drawingml/2006/main">
              <a:ext uri="{FF2B5EF4-FFF2-40B4-BE49-F238E27FC236}">
                <a16:creationId xmlns:a16="http://schemas.microsoft.com/office/drawing/2014/main" id="{D8F49478-1206-4F6E-B02F-5D103EA1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52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433"/>
          </a:bodyPr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7243A"/>
                </a:solidFill>
                <a:latin typeface="Georgia"/>
                <a:ea typeface="Georgia"/>
                <a:cs typeface="Georgia"/>
              </a:defRPr>
            </a:pPr>
            <a:r>
              <a:rPr sz="1065" b="0">
                <a:solidFill>
                  <a:srgbClr val="17243A"/>
                </a:solidFill>
                <a:latin typeface="Georgia"/>
                <a:ea typeface="Georgia"/>
                <a:cs typeface="Georgia"/>
              </a:rPr>
              <a:t>signed mass / (1 + mass)</a:t>
            </a:r>
          </a:p>
        </p:txBody>
      </p:sp>
      <p:sp>
        <p:nvSpPr>
          <p:cNvPr id="42" name="feature-fusion">
            <a:extLst xmlns:a="http://schemas.openxmlformats.org/drawingml/2006/main">
              <a:ext uri="{FF2B5EF4-FFF2-40B4-BE49-F238E27FC236}">
                <a16:creationId xmlns:a16="http://schemas.microsoft.com/office/drawing/2014/main" id="{255EE756-5042-44F0-A079-45FEE5AD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1257300" cy="14668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E1E8"/>
            </a:solidFill>
            <a:prstDash val="solid"/>
          </a:ln>
        </p:spPr>
      </p:sp>
      <p:sp>
        <p:nvSpPr>
          <p:cNvPr id="43" name="feature-fusion-title">
            <a:extLst xmlns:a="http://schemas.openxmlformats.org/drawingml/2006/main">
              <a:ext uri="{FF2B5EF4-FFF2-40B4-BE49-F238E27FC236}">
                <a16:creationId xmlns:a16="http://schemas.microsoft.com/office/drawing/2014/main" id="{11A2D080-B0F0-485F-9CAC-32B82A66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47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Feature fusion</a:t>
            </a:r>
          </a:p>
        </p:txBody>
      </p:sp>
      <p:sp>
        <p:nvSpPr>
          <p:cNvPr id="44" name="feature-fusion-steps">
            <a:extLst xmlns:a="http://schemas.openxmlformats.org/drawingml/2006/main">
              <a:ext uri="{FF2B5EF4-FFF2-40B4-BE49-F238E27FC236}">
                <a16:creationId xmlns:a16="http://schemas.microsoft.com/office/drawing/2014/main" id="{AF8C96B2-9096-4272-A1A2-A32ED66E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24125"/>
            <a:ext cx="102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756"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concatenate</a:t>
            </a:r>
          </a:p>
          <a:p xmlns:a="http://schemas.openxmlformats.org/drawingml/2006/main">
            <a:pPr algn="ctr">
              <a:defRPr sz="1238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LayerNorm → Linear</a:t>
            </a:r>
          </a:p>
          <a:p xmlns:a="http://schemas.openxmlformats.org/drawingml/2006/main">
            <a:pPr algn="ctr">
              <a:defRPr sz="1238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→ GELU → Dropout</a:t>
            </a:r>
          </a:p>
        </p:txBody>
      </p:sp>
      <p:sp>
        <p:nvSpPr>
          <p:cNvPr id="45" name="token-width">
            <a:extLst xmlns:a="http://schemas.openxmlformats.org/drawingml/2006/main">
              <a:ext uri="{FF2B5EF4-FFF2-40B4-BE49-F238E27FC236}">
                <a16:creationId xmlns:a16="http://schemas.microsoft.com/office/drawing/2014/main" id="{E4FD63E9-8AE8-40EC-9178-B3703D4F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00400"/>
            <a:ext cx="762000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8573">
            <a:solidFill>
              <a:srgbClr val="D8E1E8"/>
            </a:solidFill>
            <a:prstDash val="solid"/>
          </a:ln>
        </p:spPr>
      </p:sp>
      <p:sp>
        <p:nvSpPr>
          <p:cNvPr id="46" name="token-width-label">
            <a:extLst xmlns:a="http://schemas.openxmlformats.org/drawingml/2006/main">
              <a:ext uri="{FF2B5EF4-FFF2-40B4-BE49-F238E27FC236}">
                <a16:creationId xmlns:a16="http://schemas.microsoft.com/office/drawing/2014/main" id="{F7EE413E-4722-42DA-BCE8-605E4181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099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795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token width 256</a:t>
            </a:r>
          </a:p>
        </p:txBody>
      </p:sp>
      <p:sp>
        <p:nvSpPr>
          <p:cNvPr id="47" name="selective-ssm">
            <a:extLst xmlns:a="http://schemas.openxmlformats.org/drawingml/2006/main">
              <a:ext uri="{FF2B5EF4-FFF2-40B4-BE49-F238E27FC236}">
                <a16:creationId xmlns:a16="http://schemas.microsoft.com/office/drawing/2014/main" id="{2650D3B6-7E0A-466E-BE65-6B71CC98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409700"/>
            <a:ext cx="1390650" cy="247650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087F8C"/>
            </a:solidFill>
            <a:prstDash val="solid"/>
          </a:ln>
        </p:spPr>
      </p:sp>
      <p:sp>
        <p:nvSpPr>
          <p:cNvPr id="48" name="selective-ssm-banner">
            <a:extLst xmlns:a="http://schemas.openxmlformats.org/drawingml/2006/main">
              <a:ext uri="{FF2B5EF4-FFF2-40B4-BE49-F238E27FC236}">
                <a16:creationId xmlns:a16="http://schemas.microsoft.com/office/drawing/2014/main" id="{EBF4E237-AD5C-4287-A360-5C65B184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1423988"/>
            <a:ext cx="1362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49" name="selective-ssm-banner-label">
            <a:extLst xmlns:a="http://schemas.openxmlformats.org/drawingml/2006/main">
              <a:ext uri="{FF2B5EF4-FFF2-40B4-BE49-F238E27FC236}">
                <a16:creationId xmlns:a16="http://schemas.microsoft.com/office/drawing/2014/main" id="{F8BFD724-E804-47F5-A079-E3BB0C0F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382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SELECTIVE-SSM</a:t>
            </a:r>
          </a:p>
        </p:txBody>
      </p:sp>
      <p:sp>
        <p:nvSpPr>
          <p:cNvPr id="50" name="ssm-wave-line-1">
            <a:extLst xmlns:a="http://schemas.openxmlformats.org/drawingml/2006/main">
              <a:ext uri="{FF2B5EF4-FFF2-40B4-BE49-F238E27FC236}">
                <a16:creationId xmlns:a16="http://schemas.microsoft.com/office/drawing/2014/main" id="{1CE76EC5-C82B-4EEC-9EB9-50CC5AAA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977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4AEB5"/>
            </a:solidFill>
            <a:prstDash val="solid"/>
          </a:ln>
        </p:spPr>
      </p:sp>
      <p:sp>
        <p:nvSpPr>
          <p:cNvPr id="51" name="ssm-wave-line-2">
            <a:extLst xmlns:a="http://schemas.openxmlformats.org/drawingml/2006/main">
              <a:ext uri="{FF2B5EF4-FFF2-40B4-BE49-F238E27FC236}">
                <a16:creationId xmlns:a16="http://schemas.microsoft.com/office/drawing/2014/main" id="{80653A80-B463-4B6C-8813-96F3C069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66900"/>
            <a:ext cx="2095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4AEB5"/>
            </a:solidFill>
            <a:prstDash val="solid"/>
          </a:ln>
        </p:spPr>
      </p:sp>
      <p:sp>
        <p:nvSpPr>
          <p:cNvPr id="52" name="ssm-wave-line-3">
            <a:extLst xmlns:a="http://schemas.openxmlformats.org/drawingml/2006/main">
              <a:ext uri="{FF2B5EF4-FFF2-40B4-BE49-F238E27FC236}">
                <a16:creationId xmlns:a16="http://schemas.microsoft.com/office/drawing/2014/main" id="{48046B75-F53E-47BE-B18A-B62BBEAB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1526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4AEB5"/>
            </a:solidFill>
            <a:prstDash val="solid"/>
          </a:ln>
        </p:spPr>
      </p:sp>
      <p:sp>
        <p:nvSpPr>
          <p:cNvPr id="53" name="ssm-wave-line-4">
            <a:extLst xmlns:a="http://schemas.openxmlformats.org/drawingml/2006/main">
              <a:ext uri="{FF2B5EF4-FFF2-40B4-BE49-F238E27FC236}">
                <a16:creationId xmlns:a16="http://schemas.microsoft.com/office/drawing/2014/main" id="{FE9FAE57-10F8-43D6-9D67-BFCFAA4D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09750"/>
            <a:ext cx="20955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4AEB5"/>
            </a:solidFill>
            <a:prstDash val="solid"/>
          </a:ln>
        </p:spPr>
      </p:sp>
      <p:sp>
        <p:nvSpPr>
          <p:cNvPr id="54" name="ssm-wave-line-5">
            <a:extLst xmlns:a="http://schemas.openxmlformats.org/drawingml/2006/main">
              <a:ext uri="{FF2B5EF4-FFF2-40B4-BE49-F238E27FC236}">
                <a16:creationId xmlns:a16="http://schemas.microsoft.com/office/drawing/2014/main" id="{CCAEF407-05C2-4967-B44E-E77C3EB5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4AEB5"/>
            </a:solidFill>
            <a:prstDash val="solid"/>
          </a:ln>
        </p:spPr>
      </p:sp>
      <p:sp>
        <p:nvSpPr>
          <p:cNvPr id="55" name="ssm-wave-dot-1">
            <a:extLst xmlns:a="http://schemas.openxmlformats.org/drawingml/2006/main">
              <a:ext uri="{FF2B5EF4-FFF2-40B4-BE49-F238E27FC236}">
                <a16:creationId xmlns:a16="http://schemas.microsoft.com/office/drawing/2014/main" id="{104C181D-0731-443E-AC14-852D3961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195738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sm-wave-dot-2">
            <a:extLst xmlns:a="http://schemas.openxmlformats.org/drawingml/2006/main">
              <a:ext uri="{FF2B5EF4-FFF2-40B4-BE49-F238E27FC236}">
                <a16:creationId xmlns:a16="http://schemas.microsoft.com/office/drawing/2014/main" id="{DA9993D8-1A92-4E0B-9222-74389A59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18145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sm-wave-dot-3">
            <a:extLst xmlns:a="http://schemas.openxmlformats.org/drawingml/2006/main">
              <a:ext uri="{FF2B5EF4-FFF2-40B4-BE49-F238E27FC236}">
                <a16:creationId xmlns:a16="http://schemas.microsoft.com/office/drawing/2014/main" id="{90C5765B-FB6A-4D74-9152-BD571C32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21002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sm-wave-dot-4">
            <a:extLst xmlns:a="http://schemas.openxmlformats.org/drawingml/2006/main">
              <a:ext uri="{FF2B5EF4-FFF2-40B4-BE49-F238E27FC236}">
                <a16:creationId xmlns:a16="http://schemas.microsoft.com/office/drawing/2014/main" id="{91C53315-BEBC-4814-8377-876B4A3C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17573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sm-wave-dot-5">
            <a:extLst xmlns:a="http://schemas.openxmlformats.org/drawingml/2006/main">
              <a:ext uri="{FF2B5EF4-FFF2-40B4-BE49-F238E27FC236}">
                <a16:creationId xmlns:a16="http://schemas.microsoft.com/office/drawing/2014/main" id="{4F2ADED3-A106-4087-8788-030A45BE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203358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sm-wave-dot-6">
            <a:extLst xmlns:a="http://schemas.openxmlformats.org/drawingml/2006/main">
              <a:ext uri="{FF2B5EF4-FFF2-40B4-BE49-F238E27FC236}">
                <a16:creationId xmlns:a16="http://schemas.microsoft.com/office/drawing/2014/main" id="{BB1ED1F6-C47F-4223-B4AE-0839AA71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188118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sm-equations">
            <a:extLst xmlns:a="http://schemas.openxmlformats.org/drawingml/2006/main">
              <a:ext uri="{FF2B5EF4-FFF2-40B4-BE49-F238E27FC236}">
                <a16:creationId xmlns:a16="http://schemas.microsoft.com/office/drawing/2014/main" id="{B1168A99-9C3B-4CB2-AC2C-E4EC87B3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209800"/>
            <a:ext cx="1162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43A"/>
                </a:solidFill>
                <a:latin typeface="Georgia"/>
                <a:ea typeface="Georgia"/>
                <a:cs typeface="Georgia"/>
              </a:defRPr>
            </a:pPr>
            <a:r>
              <a:rPr sz="810" b="0">
                <a:solidFill>
                  <a:srgbClr val="17243A"/>
                </a:solidFill>
                <a:latin typeface="Georgia"/>
                <a:ea typeface="Georgia"/>
                <a:cs typeface="Georgia"/>
              </a:rPr>
              <a:t>split(Wx) → c, g, d</a:t>
            </a:r>
          </a:p>
          <a:p xmlns:a="http://schemas.openxmlformats.org/drawingml/2006/main">
            <a:pPr algn="l">
              <a:defRPr sz="810" b="0">
                <a:solidFill>
                  <a:srgbClr val="17243A"/>
                </a:solidFill>
                <a:latin typeface="Georgia"/>
                <a:ea typeface="Georgia"/>
                <a:cs typeface="Georgia"/>
              </a:defRPr>
            </a:pPr>
            <a:r>
              <a:rPr sz="810" b="0">
                <a:solidFill>
                  <a:srgbClr val="17243A"/>
                </a:solidFill>
                <a:latin typeface="Georgia"/>
                <a:ea typeface="Georgia"/>
                <a:cs typeface="Georgia"/>
              </a:rPr>
              <a:t>rho = exp(−ln2 · 0.5</a:t>
            </a:r>
          </a:p>
          <a:p xmlns:a="http://schemas.openxmlformats.org/drawingml/2006/main">
            <a:pPr algn="l">
              <a:defRPr sz="810" b="0">
                <a:solidFill>
                  <a:srgbClr val="17243A"/>
                </a:solidFill>
                <a:latin typeface="Georgia"/>
                <a:ea typeface="Georgia"/>
                <a:cs typeface="Georgia"/>
              </a:defRPr>
            </a:pPr>
            <a:r>
              <a:rPr sz="810" b="0">
                <a:solidFill>
                  <a:srgbClr val="17243A"/>
                </a:solidFill>
                <a:latin typeface="Georgia"/>
                <a:ea typeface="Georgia"/>
                <a:cs typeface="Georgia"/>
              </a:rPr>
              <a:t>      · softplus(d))</a:t>
            </a:r>
          </a:p>
          <a:p xmlns:a="http://schemas.openxmlformats.org/drawingml/2006/main">
            <a:pPr algn="l">
              <a:defRPr sz="810" b="0">
                <a:solidFill>
                  <a:srgbClr val="17243A"/>
                </a:solidFill>
                <a:latin typeface="Georgia"/>
                <a:ea typeface="Georgia"/>
                <a:cs typeface="Georgia"/>
              </a:defRPr>
            </a:pPr>
            <a:r>
              <a:rPr sz="810" b="0">
                <a:solidFill>
                  <a:srgbClr val="17243A"/>
                </a:solidFill>
                <a:latin typeface="Georgia"/>
                <a:ea typeface="Georgia"/>
                <a:cs typeface="Georgia"/>
              </a:rPr>
              <a:t>h = rho h(prev) +</a:t>
            </a:r>
          </a:p>
          <a:p xmlns:a="http://schemas.openxmlformats.org/drawingml/2006/main">
            <a:pPr algn="l">
              <a:defRPr sz="810" b="0">
                <a:solidFill>
                  <a:srgbClr val="17243A"/>
                </a:solidFill>
                <a:latin typeface="Georgia"/>
                <a:ea typeface="Georgia"/>
                <a:cs typeface="Georgia"/>
              </a:defRPr>
            </a:pPr>
            <a:r>
              <a:rPr sz="810" b="0">
                <a:solidFill>
                  <a:srgbClr val="17243A"/>
                </a:solidFill>
                <a:latin typeface="Georgia"/>
                <a:ea typeface="Georgia"/>
                <a:cs typeface="Georgia"/>
              </a:rPr>
              <a:t>    (1−rho) tanh(c)</a:t>
            </a:r>
          </a:p>
          <a:p xmlns:a="http://schemas.openxmlformats.org/drawingml/2006/main">
            <a:pPr algn="l">
              <a:defRPr sz="810" b="0">
                <a:solidFill>
                  <a:srgbClr val="17243A"/>
                </a:solidFill>
                <a:latin typeface="Georgia"/>
                <a:ea typeface="Georgia"/>
                <a:cs typeface="Georgia"/>
              </a:defRPr>
            </a:pPr>
            <a:r>
              <a:rPr sz="810" b="0">
                <a:solidFill>
                  <a:srgbClr val="17243A"/>
                </a:solidFill>
                <a:latin typeface="Georgia"/>
                <a:ea typeface="Georgia"/>
                <a:cs typeface="Georgia"/>
              </a:rPr>
              <a:t>o = g h + (1−g) x</a:t>
            </a:r>
          </a:p>
        </p:txBody>
      </p:sp>
      <p:sp>
        <p:nvSpPr>
          <p:cNvPr id="62" name="scope-mask">
            <a:extLst xmlns:a="http://schemas.openxmlformats.org/drawingml/2006/main">
              <a:ext uri="{FF2B5EF4-FFF2-40B4-BE49-F238E27FC236}">
                <a16:creationId xmlns:a16="http://schemas.microsoft.com/office/drawing/2014/main" id="{3169E061-3F03-42E0-9FA6-6603F91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62300"/>
            <a:ext cx="1162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6F6"/>
          </a:solidFill>
          <a:ln xmlns:a="http://schemas.openxmlformats.org/drawingml/2006/main" w="8573">
            <a:solidFill>
              <a:srgbClr val="54AEB5"/>
            </a:solidFill>
            <a:prstDash val="solid"/>
          </a:ln>
        </p:spPr>
      </p:sp>
      <p:sp>
        <p:nvSpPr>
          <p:cNvPr id="63" name="scope-mask-label">
            <a:extLst xmlns:a="http://schemas.openxmlformats.org/drawingml/2006/main">
              <a:ext uri="{FF2B5EF4-FFF2-40B4-BE49-F238E27FC236}">
                <a16:creationId xmlns:a16="http://schemas.microsoft.com/office/drawing/2014/main" id="{F020B8A1-5809-4AF9-9A92-810C6A9D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878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scope mask → gate</a:t>
            </a:r>
          </a:p>
          <a:p xmlns:a="http://schemas.openxmlformats.org/drawingml/2006/main">
            <a:pPr algn="ctr">
              <a:defRPr sz="1013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global = 1 · local ≥ 0.5</a:t>
            </a:r>
          </a:p>
        </p:txBody>
      </p:sp>
      <p:sp>
        <p:nvSpPr>
          <p:cNvPr id="64" name="ssm-ablation">
            <a:extLst xmlns:a="http://schemas.openxmlformats.org/drawingml/2006/main">
              <a:ext uri="{FF2B5EF4-FFF2-40B4-BE49-F238E27FC236}">
                <a16:creationId xmlns:a16="http://schemas.microsoft.com/office/drawing/2014/main" id="{46E344C7-5C20-44B0-8297-7C963C3C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543300"/>
            <a:ext cx="1162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65" name="ssm-ablation-label">
            <a:extLst xmlns:a="http://schemas.openxmlformats.org/drawingml/2006/main">
              <a:ext uri="{FF2B5EF4-FFF2-40B4-BE49-F238E27FC236}">
                <a16:creationId xmlns:a16="http://schemas.microsoft.com/office/drawing/2014/main" id="{9F830127-5D7B-4DF3-B6A8-8F5B2B00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52825"/>
            <a:ext cx="106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044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 matched</a:t>
            </a:r>
          </a:p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ablation 5/5</a:t>
            </a:r>
          </a:p>
        </p:txBody>
      </p:sp>
      <p:sp>
        <p:nvSpPr>
          <p:cNvPr id="66" name="causal-attention">
            <a:extLst xmlns:a="http://schemas.openxmlformats.org/drawingml/2006/main">
              <a:ext uri="{FF2B5EF4-FFF2-40B4-BE49-F238E27FC236}">
                <a16:creationId xmlns:a16="http://schemas.microsoft.com/office/drawing/2014/main" id="{652B7376-9825-4732-9043-3FC0EC31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571625"/>
            <a:ext cx="1809750" cy="233362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8E1E8"/>
            </a:solidFill>
            <a:prstDash val="solid"/>
          </a:ln>
        </p:spPr>
      </p:sp>
      <p:sp>
        <p:nvSpPr>
          <p:cNvPr id="67" name="causal-attention-title">
            <a:extLst xmlns:a="http://schemas.openxmlformats.org/drawingml/2006/main">
              <a:ext uri="{FF2B5EF4-FFF2-40B4-BE49-F238E27FC236}">
                <a16:creationId xmlns:a16="http://schemas.microsoft.com/office/drawing/2014/main" id="{5F49358B-ED2C-4876-A338-59619661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668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Causal post-norm</a:t>
            </a:r>
          </a:p>
        </p:txBody>
      </p:sp>
      <p:sp>
        <p:nvSpPr>
          <p:cNvPr id="68" name="causal-attention-subtitle">
            <a:extLst xmlns:a="http://schemas.openxmlformats.org/drawingml/2006/main">
              <a:ext uri="{FF2B5EF4-FFF2-40B4-BE49-F238E27FC236}">
                <a16:creationId xmlns:a16="http://schemas.microsoft.com/office/drawing/2014/main" id="{D1043F58-FAF5-4738-A882-74214F8E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33575"/>
            <a:ext cx="1543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8 heads · future mask</a:t>
            </a:r>
          </a:p>
        </p:txBody>
      </p:sp>
      <p:sp>
        <p:nvSpPr>
          <p:cNvPr id="69" name="attention-block-1">
            <a:extLst xmlns:a="http://schemas.openxmlformats.org/drawingml/2006/main">
              <a:ext uri="{FF2B5EF4-FFF2-40B4-BE49-F238E27FC236}">
                <a16:creationId xmlns:a16="http://schemas.microsoft.com/office/drawing/2014/main" id="{9CCCE870-F459-4C75-853A-A46C72BC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276475"/>
            <a:ext cx="14668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8573">
            <a:solidFill>
              <a:srgbClr val="D8E1E8"/>
            </a:solidFill>
            <a:prstDash val="solid"/>
          </a:ln>
        </p:spPr>
      </p:sp>
      <p:sp>
        <p:nvSpPr>
          <p:cNvPr id="70" name="attention-block-1-label">
            <a:extLst xmlns:a="http://schemas.openxmlformats.org/drawingml/2006/main">
              <a:ext uri="{FF2B5EF4-FFF2-40B4-BE49-F238E27FC236}">
                <a16:creationId xmlns:a16="http://schemas.microsoft.com/office/drawing/2014/main" id="{02762EE7-1ED0-4599-BB47-6DB534A5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86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389"/>
          </a:bodyPr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block 1     MHA + FFN</a:t>
            </a:r>
          </a:p>
        </p:txBody>
      </p:sp>
      <p:sp>
        <p:nvSpPr>
          <p:cNvPr id="71" name="attention-block-2">
            <a:extLst xmlns:a="http://schemas.openxmlformats.org/drawingml/2006/main">
              <a:ext uri="{FF2B5EF4-FFF2-40B4-BE49-F238E27FC236}">
                <a16:creationId xmlns:a16="http://schemas.microsoft.com/office/drawing/2014/main" id="{473908E0-2E41-4532-8218-6023B3E2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38425"/>
            <a:ext cx="14668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8573">
            <a:solidFill>
              <a:srgbClr val="D8E1E8"/>
            </a:solidFill>
            <a:prstDash val="solid"/>
          </a:ln>
        </p:spPr>
      </p:sp>
      <p:sp>
        <p:nvSpPr>
          <p:cNvPr id="72" name="attention-block-2-label">
            <a:extLst xmlns:a="http://schemas.openxmlformats.org/drawingml/2006/main">
              <a:ext uri="{FF2B5EF4-FFF2-40B4-BE49-F238E27FC236}">
                <a16:creationId xmlns:a16="http://schemas.microsoft.com/office/drawing/2014/main" id="{6B6E1ED9-693C-478F-9C72-3B661E59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479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389"/>
          </a:bodyPr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block 2     MHA + FFN</a:t>
            </a:r>
          </a:p>
        </p:txBody>
      </p:sp>
      <p:sp>
        <p:nvSpPr>
          <p:cNvPr id="73" name="attention-block-3">
            <a:extLst xmlns:a="http://schemas.openxmlformats.org/drawingml/2006/main">
              <a:ext uri="{FF2B5EF4-FFF2-40B4-BE49-F238E27FC236}">
                <a16:creationId xmlns:a16="http://schemas.microsoft.com/office/drawing/2014/main" id="{08D83A9B-F6BB-421B-A2E3-B44A1257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00375"/>
            <a:ext cx="14668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8573">
            <a:solidFill>
              <a:srgbClr val="D8E1E8"/>
            </a:solidFill>
            <a:prstDash val="solid"/>
          </a:ln>
        </p:spPr>
      </p:sp>
      <p:sp>
        <p:nvSpPr>
          <p:cNvPr id="74" name="attention-block-3-label">
            <a:extLst xmlns:a="http://schemas.openxmlformats.org/drawingml/2006/main">
              <a:ext uri="{FF2B5EF4-FFF2-40B4-BE49-F238E27FC236}">
                <a16:creationId xmlns:a16="http://schemas.microsoft.com/office/drawing/2014/main" id="{677E026E-BA86-493A-A0E9-78BCEFB4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09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389"/>
          </a:bodyPr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block 3     MHA + FFN</a:t>
            </a:r>
          </a:p>
        </p:txBody>
      </p:sp>
      <p:sp>
        <p:nvSpPr>
          <p:cNvPr id="75" name="attention-block-4">
            <a:extLst xmlns:a="http://schemas.openxmlformats.org/drawingml/2006/main">
              <a:ext uri="{FF2B5EF4-FFF2-40B4-BE49-F238E27FC236}">
                <a16:creationId xmlns:a16="http://schemas.microsoft.com/office/drawing/2014/main" id="{A6EEBCEA-0EAB-412C-A948-D0AE68D4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362325"/>
            <a:ext cx="14668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8F6F6"/>
          </a:solidFill>
          <a:ln xmlns:a="http://schemas.openxmlformats.org/drawingml/2006/main" w="8573">
            <a:solidFill>
              <a:srgbClr val="54AEB5"/>
            </a:solidFill>
            <a:prstDash val="solid"/>
          </a:ln>
        </p:spPr>
      </p:sp>
      <p:sp>
        <p:nvSpPr>
          <p:cNvPr id="76" name="attention-block-4-label">
            <a:extLst xmlns:a="http://schemas.openxmlformats.org/drawingml/2006/main">
              <a:ext uri="{FF2B5EF4-FFF2-40B4-BE49-F238E27FC236}">
                <a16:creationId xmlns:a16="http://schemas.microsoft.com/office/drawing/2014/main" id="{346EFE94-8B4C-4B85-9BFF-C4B95376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71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88"/>
          </a:bodyPr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block 4     MHA only</a:t>
            </a:r>
          </a:p>
        </p:txBody>
      </p:sp>
      <p:cxnSp>
        <p:nvCxnSpPr>
          <p:cNvPr id="242" name=""/>
          <p:cNvCxnSpPr>
            <a:stCxn xmlns:a="http://schemas.openxmlformats.org/drawingml/2006/main" id="69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553450" y="25431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788F"/>
            </a:solidFill>
            <a:prstDash val="solid"/>
            <a:headEnd type="triangle" w="sm" len="sm"/>
          </a:ln>
        </p:spPr>
      </p:cxnSp>
      <p:cxnSp>
        <p:nvCxnSpPr>
          <p:cNvPr id="243" name=""/>
          <p:cNvCxnSpPr>
            <a:stCxn xmlns:a="http://schemas.openxmlformats.org/drawingml/2006/main" id="71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8553450" y="29051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788F"/>
            </a:solidFill>
            <a:prstDash val="solid"/>
            <a:headEnd type="triangle" w="sm" len="sm"/>
          </a:ln>
        </p:spPr>
      </p:cxnSp>
      <p:cxnSp>
        <p:nvCxnSpPr>
          <p:cNvPr id="244" name=""/>
          <p:cNvCxnSpPr>
            <a:stCxn xmlns:a="http://schemas.openxmlformats.org/drawingml/2006/main" id="73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8553450" y="32670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6788F"/>
            </a:solidFill>
            <a:prstDash val="solid"/>
            <a:headEnd type="triangle" w="sm" len="sm"/>
          </a:ln>
        </p:spPr>
      </p:cxnSp>
      <p:sp>
        <p:nvSpPr>
          <p:cNvPr id="80" name="attention-claim-boundary">
            <a:extLst xmlns:a="http://schemas.openxmlformats.org/drawingml/2006/main">
              <a:ext uri="{FF2B5EF4-FFF2-40B4-BE49-F238E27FC236}">
                <a16:creationId xmlns:a16="http://schemas.microsoft.com/office/drawing/2014/main" id="{81FF675D-2DF9-4454-BECC-A0B62811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6671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298"/>
          </a:bodyPr>
          <a:lstStyle xmlns:a="http://schemas.openxmlformats.org/drawingml/2006/main"/>
          <a:p xmlns:a="http://schemas.openxmlformats.org/drawingml/2006/main">
            <a:pPr algn="ctr">
              <a:defRPr sz="945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executed backbone · no 5/5 claim</a:t>
            </a:r>
          </a:p>
        </p:txBody>
      </p:sp>
      <p:sp>
        <p:nvSpPr>
          <p:cNvPr id="81" name="prediction-mlp">
            <a:extLst xmlns:a="http://schemas.openxmlformats.org/drawingml/2006/main">
              <a:ext uri="{FF2B5EF4-FFF2-40B4-BE49-F238E27FC236}">
                <a16:creationId xmlns:a16="http://schemas.microsoft.com/office/drawing/2014/main" id="{A7570938-D23A-469C-B995-FA8A1F97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43050"/>
            <a:ext cx="1847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1E8"/>
            </a:solidFill>
            <a:prstDash val="solid"/>
          </a:ln>
        </p:spPr>
      </p:sp>
      <p:sp>
        <p:nvSpPr>
          <p:cNvPr id="82" name="prediction-mlp-title">
            <a:extLst xmlns:a="http://schemas.openxmlformats.org/drawingml/2006/main">
              <a:ext uri="{FF2B5EF4-FFF2-40B4-BE49-F238E27FC236}">
                <a16:creationId xmlns:a16="http://schemas.microsoft.com/office/drawing/2014/main" id="{6B01AFE8-988F-4349-94E6-E7CDAE46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097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Prediction MLP</a:t>
            </a:r>
          </a:p>
        </p:txBody>
      </p:sp>
      <p:sp>
        <p:nvSpPr>
          <p:cNvPr id="83" name="prediction-mlp-subtitle">
            <a:extLst xmlns:a="http://schemas.openxmlformats.org/drawingml/2006/main">
              <a:ext uri="{FF2B5EF4-FFF2-40B4-BE49-F238E27FC236}">
                <a16:creationId xmlns:a16="http://schemas.microsoft.com/office/drawing/2014/main" id="{B7CB2F91-3536-4D4D-A694-A57530D9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66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[attention output ; 6 stats]</a:t>
            </a:r>
          </a:p>
        </p:txBody>
      </p:sp>
      <p:sp>
        <p:nvSpPr>
          <p:cNvPr id="84" name="prior-logit">
            <a:extLst xmlns:a="http://schemas.openxmlformats.org/drawingml/2006/main">
              <a:ext uri="{FF2B5EF4-FFF2-40B4-BE49-F238E27FC236}">
                <a16:creationId xmlns:a16="http://schemas.microsoft.com/office/drawing/2014/main" id="{DB1574A5-5650-47D7-B9D7-487F0A5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66975"/>
            <a:ext cx="1847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11430">
            <a:solidFill>
              <a:srgbClr val="D79A22"/>
            </a:solidFill>
            <a:prstDash val="solid"/>
          </a:ln>
        </p:spPr>
      </p:sp>
      <p:sp>
        <p:nvSpPr>
          <p:cNvPr id="85" name="prior-logit-title">
            <a:extLst xmlns:a="http://schemas.openxmlformats.org/drawingml/2006/main">
              <a:ext uri="{FF2B5EF4-FFF2-40B4-BE49-F238E27FC236}">
                <a16:creationId xmlns:a16="http://schemas.microsoft.com/office/drawing/2014/main" id="{1AB1EEA3-85CD-4780-8D61-0CFA9BB7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29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+ 0.08 · prior logit</a:t>
            </a:r>
          </a:p>
        </p:txBody>
      </p:sp>
      <p:sp>
        <p:nvSpPr>
          <p:cNvPr id="86" name="prior-logit-subtitle">
            <a:extLst xmlns:a="http://schemas.openxmlformats.org/drawingml/2006/main">
              <a:ext uri="{FF2B5EF4-FFF2-40B4-BE49-F238E27FC236}">
                <a16:creationId xmlns:a16="http://schemas.microsoft.com/office/drawing/2014/main" id="{61F7758E-B057-463F-B1FE-5BBE4AFF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item + concept</a:t>
            </a:r>
          </a:p>
        </p:txBody>
      </p:sp>
      <p:sp>
        <p:nvSpPr>
          <p:cNvPr id="87" name="stat-logit">
            <a:extLst xmlns:a="http://schemas.openxmlformats.org/drawingml/2006/main">
              <a:ext uri="{FF2B5EF4-FFF2-40B4-BE49-F238E27FC236}">
                <a16:creationId xmlns:a16="http://schemas.microsoft.com/office/drawing/2014/main" id="{DEEE56F6-F424-4B44-9D02-9FC59F2C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0400"/>
            <a:ext cx="1847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EF6A58"/>
            </a:solidFill>
            <a:prstDash val="solid"/>
          </a:ln>
        </p:spPr>
      </p:sp>
      <p:sp>
        <p:nvSpPr>
          <p:cNvPr id="88" name="stat-logit-title">
            <a:extLst xmlns:a="http://schemas.openxmlformats.org/drawingml/2006/main">
              <a:ext uri="{FF2B5EF4-FFF2-40B4-BE49-F238E27FC236}">
                <a16:creationId xmlns:a16="http://schemas.microsoft.com/office/drawing/2014/main" id="{F21B6DC4-8491-462D-ABD1-75353E59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670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29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+ 0.12 · statistic logit</a:t>
            </a:r>
          </a:p>
        </p:txBody>
      </p:sp>
      <p:sp>
        <p:nvSpPr>
          <p:cNvPr id="89" name="stat-logit-subtitle">
            <a:extLst xmlns:a="http://schemas.openxmlformats.org/drawingml/2006/main">
              <a:ext uri="{FF2B5EF4-FFF2-40B4-BE49-F238E27FC236}">
                <a16:creationId xmlns:a16="http://schemas.microsoft.com/office/drawing/2014/main" id="{D91A7FC5-AB33-4025-97C8-6EC98879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66788F"/>
                </a:solidFill>
                <a:latin typeface="Arial"/>
                <a:ea typeface="Arial"/>
                <a:cs typeface="Arial"/>
              </a:rPr>
              <a:t>direct evidence residual</a:t>
            </a:r>
          </a:p>
        </p:txBody>
      </p:sp>
      <p:sp>
        <p:nvSpPr>
          <p:cNvPr id="90" name="logit-sum">
            <a:extLst xmlns:a="http://schemas.openxmlformats.org/drawingml/2006/main">
              <a:ext uri="{FF2B5EF4-FFF2-40B4-BE49-F238E27FC236}">
                <a16:creationId xmlns:a16="http://schemas.microsoft.com/office/drawing/2014/main" id="{CF3CC32E-5C54-4249-8BAB-1226A4EF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971925"/>
            <a:ext cx="7429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43A"/>
            </a:solidFill>
            <a:prstDash val="solid"/>
          </a:ln>
        </p:spPr>
      </p:sp>
      <p:sp>
        <p:nvSpPr>
          <p:cNvPr id="91" name="logit-sum-label">
            <a:extLst xmlns:a="http://schemas.openxmlformats.org/drawingml/2006/main">
              <a:ext uri="{FF2B5EF4-FFF2-40B4-BE49-F238E27FC236}">
                <a16:creationId xmlns:a16="http://schemas.microsoft.com/office/drawing/2014/main" id="{4A970BE8-0D64-476C-ADF2-D2B60C6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9814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Σ → sigmoid</a:t>
            </a:r>
          </a:p>
        </p:txBody>
      </p:sp>
      <p:sp>
        <p:nvSpPr>
          <p:cNvPr id="92" name="next-response-probability">
            <a:extLst xmlns:a="http://schemas.openxmlformats.org/drawingml/2006/main">
              <a:ext uri="{FF2B5EF4-FFF2-40B4-BE49-F238E27FC236}">
                <a16:creationId xmlns:a16="http://schemas.microsoft.com/office/drawing/2014/main" id="{57A6C04D-109F-4EAE-9F9A-9C1E6EC8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43425"/>
            <a:ext cx="1657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93" name="next-response-probability-label">
            <a:extLst xmlns:a="http://schemas.openxmlformats.org/drawingml/2006/main">
              <a:ext uri="{FF2B5EF4-FFF2-40B4-BE49-F238E27FC236}">
                <a16:creationId xmlns:a16="http://schemas.microsoft.com/office/drawing/2014/main" id="{845A4318-FA66-44A2-B0B6-DC8F2182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5624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896"/>
          </a:bodyPr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18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P(next response = 1)</a:t>
            </a:r>
          </a:p>
        </p:txBody>
      </p:sp>
      <p:cxnSp>
        <p:nvCxnSpPr>
          <p:cNvPr id="259" name=""/>
          <p:cNvCxnSpPr>
            <a:stCxn xmlns:a="http://schemas.openxmlformats.org/drawingml/2006/main" id="2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000250" y="2314575"/>
            <a:ext cx="2409825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17243A"/>
            </a:solidFill>
            <a:prstDash val="solid"/>
            <a:headEnd type="triangle" w="sm" len="sm"/>
          </a:ln>
        </p:spPr>
      </p:cxnSp>
      <p:cxnSp>
        <p:nvCxnSpPr>
          <p:cNvPr id="260" name=""/>
          <p:cNvCxnSpPr>
            <a:stCxn xmlns:a="http://schemas.openxmlformats.org/drawingml/2006/main" id="25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V="1">
            <a:off x="2000250" y="2828925"/>
            <a:ext cx="240982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17243A"/>
            </a:solidFill>
            <a:prstDash val="solid"/>
            <a:headEnd type="triangle" w="sm" len="sm"/>
          </a:ln>
        </p:spPr>
      </p:cxnSp>
      <p:cxnSp>
        <p:nvCxnSpPr>
          <p:cNvPr id="261" name=""/>
          <p:cNvCxnSpPr>
            <a:stCxn xmlns:a="http://schemas.openxmlformats.org/drawingml/2006/main" id="29" idx="3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3990975" y="2000250"/>
            <a:ext cx="1047750" cy="95250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D79A22"/>
            </a:solidFill>
            <a:prstDash val="solid"/>
            <a:headEnd type="triangle" w="sm" len="sm"/>
          </a:ln>
        </p:spPr>
      </p:cxnSp>
      <p:cxnSp>
        <p:nvCxnSpPr>
          <p:cNvPr id="262" name=""/>
          <p:cNvCxnSpPr>
            <a:stCxn xmlns:a="http://schemas.openxmlformats.org/drawingml/2006/main" id="32" idx="3"/>
            <a:endCxn xmlns:a="http://schemas.openxmlformats.org/drawingml/2006/main" id="42" idx="2"/>
          </p:cNvCxnSpPr>
          <p:nvPr/>
        </p:nvCxnSpPr>
        <p:spPr>
          <a:xfrm xmlns:a="http://schemas.openxmlformats.org/drawingml/2006/main">
            <a:off x="3990975" y="3381375"/>
            <a:ext cx="1047750" cy="1809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087F8C"/>
            </a:solidFill>
            <a:prstDash val="solid"/>
            <a:headEnd type="triangle" w="sm" len="sm"/>
          </a:ln>
        </p:spPr>
      </p:cxnSp>
      <p:cxnSp>
        <p:nvCxnSpPr>
          <p:cNvPr id="263" name=""/>
          <p:cNvCxnSpPr>
            <a:stCxn xmlns:a="http://schemas.openxmlformats.org/drawingml/2006/main" id="42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5667375" y="2647950"/>
            <a:ext cx="20955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prstDash val="solid"/>
            <a:headEnd type="triangle" w="sm" len="sm"/>
          </a:ln>
        </p:spPr>
      </p:cxnSp>
      <p:cxnSp>
        <p:nvCxnSpPr>
          <p:cNvPr id="264" name=""/>
          <p:cNvCxnSpPr>
            <a:stCxn xmlns:a="http://schemas.openxmlformats.org/drawingml/2006/main" id="47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7267575" y="2647950"/>
            <a:ext cx="381000" cy="9048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8C"/>
            </a:solidFill>
            <a:prstDash val="solid"/>
            <a:headEnd type="triangle" w="sm" len="sm"/>
          </a:ln>
        </p:spPr>
      </p:cxnSp>
      <p:cxnSp>
        <p:nvCxnSpPr>
          <p:cNvPr id="265" name=""/>
          <p:cNvCxnSpPr>
            <a:stCxn xmlns:a="http://schemas.openxmlformats.org/drawingml/2006/main" id="66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 flipV="1">
            <a:off x="9458325" y="1895475"/>
            <a:ext cx="428625" cy="84296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243A"/>
            </a:solidFill>
            <a:prstDash val="solid"/>
            <a:headEnd type="triangle" w="sm" len="sm"/>
          </a:ln>
        </p:spPr>
      </p:cxnSp>
      <p:cxnSp>
        <p:nvCxnSpPr>
          <p:cNvPr id="266" name=""/>
          <p:cNvCxnSpPr>
            <a:stCxn xmlns:a="http://schemas.openxmlformats.org/drawingml/2006/main" id="81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10810875" y="2247900"/>
            <a:ext cx="0" cy="17240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7243A"/>
            </a:solidFill>
            <a:prstDash val="solid"/>
            <a:headEnd type="triangle" w="sm" len="sm"/>
          </a:ln>
        </p:spPr>
      </p:cxnSp>
      <p:cxnSp>
        <p:nvCxnSpPr>
          <p:cNvPr id="267" name=""/>
          <p:cNvCxnSpPr>
            <a:stCxn xmlns:a="http://schemas.openxmlformats.org/drawingml/2006/main" id="84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10810875" y="301942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D79A22"/>
            </a:solidFill>
            <a:prstDash val="solid"/>
            <a:headEnd type="triangle" w="sm" len="sm"/>
          </a:ln>
        </p:spPr>
      </p:cxnSp>
      <p:cxnSp>
        <p:nvCxnSpPr>
          <p:cNvPr id="268" name=""/>
          <p:cNvCxnSpPr>
            <a:stCxn xmlns:a="http://schemas.openxmlformats.org/drawingml/2006/main" id="87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10810875" y="375285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EF6A58"/>
            </a:solidFill>
            <a:prstDash val="solid"/>
            <a:headEnd type="triangle" w="sm" len="sm"/>
          </a:ln>
        </p:spPr>
      </p:cxnSp>
      <p:cxnSp>
        <p:nvCxnSpPr>
          <p:cNvPr id="269" name=""/>
          <p:cNvCxnSpPr>
            <a:stCxn xmlns:a="http://schemas.openxmlformats.org/drawingml/2006/main" id="90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10810875" y="442912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triangle" w="sm" len="sm"/>
          </a:ln>
        </p:spPr>
      </p:cxnSp>
      <p:sp>
        <p:nvSpPr>
          <p:cNvPr id="105" name="causal-sequence-line">
            <a:extLst xmlns:a="http://schemas.openxmlformats.org/drawingml/2006/main">
              <a:ext uri="{FF2B5EF4-FFF2-40B4-BE49-F238E27FC236}">
                <a16:creationId xmlns:a16="http://schemas.microsoft.com/office/drawing/2014/main" id="{547552EA-9841-4406-BD46-77D48718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28725"/>
            <a:ext cx="1504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243A"/>
            </a:solidFill>
            <a:prstDash val="solid"/>
          </a:ln>
        </p:spPr>
      </p:sp>
      <p:sp>
        <p:nvSpPr>
          <p:cNvPr id="106" name="causal-token-1">
            <a:extLst xmlns:a="http://schemas.openxmlformats.org/drawingml/2006/main">
              <a:ext uri="{FF2B5EF4-FFF2-40B4-BE49-F238E27FC236}">
                <a16:creationId xmlns:a16="http://schemas.microsoft.com/office/drawing/2014/main" id="{840498F9-1852-4745-8670-E7C8BAC6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12395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4AEB5"/>
            </a:solidFill>
            <a:prstDash val="solid"/>
          </a:ln>
        </p:spPr>
      </p:sp>
      <p:sp>
        <p:nvSpPr>
          <p:cNvPr id="107" name="causal-token-dot-1">
            <a:extLst xmlns:a="http://schemas.openxmlformats.org/drawingml/2006/main">
              <a:ext uri="{FF2B5EF4-FFF2-40B4-BE49-F238E27FC236}">
                <a16:creationId xmlns:a16="http://schemas.microsoft.com/office/drawing/2014/main" id="{15745947-5DB2-428E-8181-17C7F507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8" y="11668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causal-token-2">
            <a:extLst xmlns:a="http://schemas.openxmlformats.org/drawingml/2006/main">
              <a:ext uri="{FF2B5EF4-FFF2-40B4-BE49-F238E27FC236}">
                <a16:creationId xmlns:a16="http://schemas.microsoft.com/office/drawing/2014/main" id="{CAABAA14-224A-47FD-AF82-456B9D71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12395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4AEB5"/>
            </a:solidFill>
            <a:prstDash val="solid"/>
          </a:ln>
        </p:spPr>
      </p:sp>
      <p:sp>
        <p:nvSpPr>
          <p:cNvPr id="109" name="causal-token-dot-2">
            <a:extLst xmlns:a="http://schemas.openxmlformats.org/drawingml/2006/main">
              <a:ext uri="{FF2B5EF4-FFF2-40B4-BE49-F238E27FC236}">
                <a16:creationId xmlns:a16="http://schemas.microsoft.com/office/drawing/2014/main" id="{D88238D8-1981-465D-812B-2F18EC2B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11668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A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causal-token-3">
            <a:extLst xmlns:a="http://schemas.openxmlformats.org/drawingml/2006/main">
              <a:ext uri="{FF2B5EF4-FFF2-40B4-BE49-F238E27FC236}">
                <a16:creationId xmlns:a16="http://schemas.microsoft.com/office/drawing/2014/main" id="{0656DFFB-197E-4B5E-8CC4-4DAF732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12395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7F8C"/>
            </a:solidFill>
            <a:prstDash val="solid"/>
          </a:ln>
        </p:spPr>
      </p:sp>
      <p:sp>
        <p:nvSpPr>
          <p:cNvPr id="111" name="causal-token-dot-3">
            <a:extLst xmlns:a="http://schemas.openxmlformats.org/drawingml/2006/main">
              <a:ext uri="{FF2B5EF4-FFF2-40B4-BE49-F238E27FC236}">
                <a16:creationId xmlns:a16="http://schemas.microsoft.com/office/drawing/2014/main" id="{ED1E96E6-5BD5-49BB-8381-B4F2513F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8" y="11668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causal-token-4">
            <a:extLst xmlns:a="http://schemas.openxmlformats.org/drawingml/2006/main">
              <a:ext uri="{FF2B5EF4-FFF2-40B4-BE49-F238E27FC236}">
                <a16:creationId xmlns:a16="http://schemas.microsoft.com/office/drawing/2014/main" id="{653A4D1F-5507-41C9-8EE1-6756F289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12395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6A58"/>
            </a:solidFill>
            <a:prstDash val="solid"/>
          </a:ln>
        </p:spPr>
      </p:sp>
      <p:sp>
        <p:nvSpPr>
          <p:cNvPr id="113" name="causal-token-dot-4">
            <a:extLst xmlns:a="http://schemas.openxmlformats.org/drawingml/2006/main">
              <a:ext uri="{FF2B5EF4-FFF2-40B4-BE49-F238E27FC236}">
                <a16:creationId xmlns:a16="http://schemas.microsoft.com/office/drawing/2014/main" id="{D778426C-7ACB-4738-9197-C5EDAD19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8" y="11668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causal-token-5">
            <a:extLst xmlns:a="http://schemas.openxmlformats.org/drawingml/2006/main">
              <a:ext uri="{FF2B5EF4-FFF2-40B4-BE49-F238E27FC236}">
                <a16:creationId xmlns:a16="http://schemas.microsoft.com/office/drawing/2014/main" id="{C4E9C103-C792-4718-98C5-6F55F4A7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123950"/>
            <a:ext cx="2095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6A58"/>
            </a:solidFill>
            <a:prstDash val="solid"/>
          </a:ln>
        </p:spPr>
      </p:sp>
      <p:sp>
        <p:nvSpPr>
          <p:cNvPr id="115" name="causal-token-dot-5">
            <a:extLst xmlns:a="http://schemas.openxmlformats.org/drawingml/2006/main">
              <a:ext uri="{FF2B5EF4-FFF2-40B4-BE49-F238E27FC236}">
                <a16:creationId xmlns:a16="http://schemas.microsoft.com/office/drawing/2014/main" id="{C4A53409-CD38-4ACE-8A73-AD2BDA83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288" y="11668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causal-sequence-caption">
            <a:extLst xmlns:a="http://schemas.openxmlformats.org/drawingml/2006/main">
              <a:ext uri="{FF2B5EF4-FFF2-40B4-BE49-F238E27FC236}">
                <a16:creationId xmlns:a16="http://schemas.microsoft.com/office/drawing/2014/main" id="{6C9DC735-CDDB-471E-91DD-4E459A3C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history     target     next</a:t>
            </a:r>
          </a:p>
        </p:txBody>
      </p:sp>
      <p:sp>
        <p:nvSpPr>
          <p:cNvPr id="117" name="train-only-dropout">
            <a:extLst xmlns:a="http://schemas.openxmlformats.org/drawingml/2006/main">
              <a:ext uri="{FF2B5EF4-FFF2-40B4-BE49-F238E27FC236}">
                <a16:creationId xmlns:a16="http://schemas.microsoft.com/office/drawing/2014/main" id="{87493157-E053-4E88-B1A8-6EAF04E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390650" cy="581025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F6A58"/>
            </a:solidFill>
            <a:prstDash val="dash"/>
          </a:ln>
        </p:spPr>
      </p:sp>
      <p:sp>
        <p:nvSpPr>
          <p:cNvPr id="118" name="train-only-dropout-label">
            <a:extLst xmlns:a="http://schemas.openxmlformats.org/drawingml/2006/main">
              <a:ext uri="{FF2B5EF4-FFF2-40B4-BE49-F238E27FC236}">
                <a16:creationId xmlns:a16="http://schemas.microsoft.com/office/drawing/2014/main" id="{8076A9ED-5161-43B4-97FB-4445D5E3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6A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6A58"/>
                </a:solidFill>
                <a:latin typeface="Arial"/>
                <a:ea typeface="Arial"/>
                <a:cs typeface="Arial"/>
              </a:rPr>
              <a:t>TRAIN ONLY</a:t>
            </a:r>
          </a:p>
        </p:txBody>
      </p:sp>
      <p:sp>
        <p:nvSpPr>
          <p:cNvPr id="119" name="train-only-dropout-value">
            <a:extLst xmlns:a="http://schemas.openxmlformats.org/drawingml/2006/main">
              <a:ext uri="{FF2B5EF4-FFF2-40B4-BE49-F238E27FC236}">
                <a16:creationId xmlns:a16="http://schemas.microsoft.com/office/drawing/2014/main" id="{C9F58840-351F-46F8-856F-108B4150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806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item residual dropout = 0.4</a:t>
            </a:r>
          </a:p>
        </p:txBody>
      </p:sp>
      <p:sp>
        <p:nvSpPr>
          <p:cNvPr id="120" name="prior-side-vertical">
            <a:extLst xmlns:a="http://schemas.openxmlformats.org/drawingml/2006/main">
              <a:ext uri="{FF2B5EF4-FFF2-40B4-BE49-F238E27FC236}">
                <a16:creationId xmlns:a16="http://schemas.microsoft.com/office/drawing/2014/main" id="{7E5D7B6C-ABBF-46D6-A6AA-5D5331A8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390775"/>
            <a:ext cx="953" cy="1971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D79A22"/>
            </a:solidFill>
            <a:prstDash val="dash"/>
          </a:ln>
        </p:spPr>
      </p:sp>
      <p:sp>
        <p:nvSpPr>
          <p:cNvPr id="121" name="prior-side-horizontal">
            <a:extLst xmlns:a="http://schemas.openxmlformats.org/drawingml/2006/main">
              <a:ext uri="{FF2B5EF4-FFF2-40B4-BE49-F238E27FC236}">
                <a16:creationId xmlns:a16="http://schemas.microsoft.com/office/drawing/2014/main" id="{BD3891A1-44A3-4E5B-A49C-E1759E5A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62450"/>
            <a:ext cx="6600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D79A22"/>
            </a:solidFill>
            <a:prstDash val="dash"/>
          </a:ln>
        </p:spPr>
      </p:sp>
      <p:sp>
        <p:nvSpPr>
          <p:cNvPr id="122" name="prior-side-up">
            <a:extLst xmlns:a="http://schemas.openxmlformats.org/drawingml/2006/main">
              <a:ext uri="{FF2B5EF4-FFF2-40B4-BE49-F238E27FC236}">
                <a16:creationId xmlns:a16="http://schemas.microsoft.com/office/drawing/2014/main" id="{C0895872-397A-4844-8791-CA3D344F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953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D79A22"/>
            </a:solidFill>
            <a:prstDash val="dash"/>
          </a:ln>
        </p:spPr>
      </p:sp>
      <p:sp>
        <p:nvSpPr>
          <p:cNvPr id="123" name="prior-side-entry">
            <a:extLst xmlns:a="http://schemas.openxmlformats.org/drawingml/2006/main">
              <a:ext uri="{FF2B5EF4-FFF2-40B4-BE49-F238E27FC236}">
                <a16:creationId xmlns:a16="http://schemas.microsoft.com/office/drawing/2014/main" id="{0923D215-B24E-4C94-B3F8-2E96609D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D79A22"/>
            </a:solidFill>
            <a:prstDash val="dash"/>
          </a:ln>
        </p:spPr>
      </p:sp>
      <p:sp>
        <p:nvSpPr>
          <p:cNvPr id="124" name="prior-side-arrow">
            <a:extLst xmlns:a="http://schemas.openxmlformats.org/drawingml/2006/main">
              <a:ext uri="{FF2B5EF4-FFF2-40B4-BE49-F238E27FC236}">
                <a16:creationId xmlns:a16="http://schemas.microsoft.com/office/drawing/2014/main" id="{64B54D04-08A5-4B9B-9B48-68A429EB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53613" y="27098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9A22"/>
          </a:solidFill>
          <a:ln xmlns:a="http://schemas.openxmlformats.org/drawingml/2006/main" w="0">
            <a:solidFill>
              <a:srgbClr val="D79A22"/>
            </a:solidFill>
            <a:prstDash val="solid"/>
          </a:ln>
        </p:spPr>
      </p:sp>
      <p:sp>
        <p:nvSpPr>
          <p:cNvPr id="125" name="prior-side-label">
            <a:extLst xmlns:a="http://schemas.openxmlformats.org/drawingml/2006/main">
              <a:ext uri="{FF2B5EF4-FFF2-40B4-BE49-F238E27FC236}">
                <a16:creationId xmlns:a16="http://schemas.microsoft.com/office/drawing/2014/main" id="{ED97266D-0242-4066-88A9-5A600D79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957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9A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9A22"/>
                </a:solidFill>
                <a:latin typeface="Arial"/>
                <a:ea typeface="Arial"/>
                <a:cs typeface="Arial"/>
              </a:rPr>
              <a:t>fold-local prior side path</a:t>
            </a:r>
          </a:p>
        </p:txBody>
      </p:sp>
      <p:sp>
        <p:nvSpPr>
          <p:cNvPr id="126" name="stat-side-vertical">
            <a:extLst xmlns:a="http://schemas.openxmlformats.org/drawingml/2006/main">
              <a:ext uri="{FF2B5EF4-FFF2-40B4-BE49-F238E27FC236}">
                <a16:creationId xmlns:a16="http://schemas.microsoft.com/office/drawing/2014/main" id="{4896109D-93C3-439D-982A-43E394E3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29075"/>
            <a:ext cx="953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EF6A58"/>
            </a:solidFill>
            <a:prstDash val="dash"/>
          </a:ln>
        </p:spPr>
      </p:sp>
      <p:sp>
        <p:nvSpPr>
          <p:cNvPr id="127" name="stat-side-horizontal">
            <a:extLst xmlns:a="http://schemas.openxmlformats.org/drawingml/2006/main">
              <a:ext uri="{FF2B5EF4-FFF2-40B4-BE49-F238E27FC236}">
                <a16:creationId xmlns:a16="http://schemas.microsoft.com/office/drawing/2014/main" id="{AD84CA69-AA2B-4099-BAC3-98B7AAE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29150"/>
            <a:ext cx="6534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EF6A58"/>
            </a:solidFill>
            <a:prstDash val="dash"/>
          </a:ln>
        </p:spPr>
      </p:sp>
      <p:sp>
        <p:nvSpPr>
          <p:cNvPr id="128" name="stat-side-up">
            <a:extLst xmlns:a="http://schemas.openxmlformats.org/drawingml/2006/main">
              <a:ext uri="{FF2B5EF4-FFF2-40B4-BE49-F238E27FC236}">
                <a16:creationId xmlns:a16="http://schemas.microsoft.com/office/drawing/2014/main" id="{25028839-43DA-4586-A6A1-5A9283B9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76625"/>
            <a:ext cx="953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EF6A58"/>
            </a:solidFill>
            <a:prstDash val="dash"/>
          </a:ln>
        </p:spPr>
      </p:sp>
      <p:sp>
        <p:nvSpPr>
          <p:cNvPr id="129" name="stat-side-entry">
            <a:extLst xmlns:a="http://schemas.openxmlformats.org/drawingml/2006/main">
              <a:ext uri="{FF2B5EF4-FFF2-40B4-BE49-F238E27FC236}">
                <a16:creationId xmlns:a16="http://schemas.microsoft.com/office/drawing/2014/main" id="{52A7049B-48BA-44FF-84B0-CE63139A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76625"/>
            <a:ext cx="142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EF6A58"/>
            </a:solidFill>
            <a:prstDash val="dash"/>
          </a:ln>
        </p:spPr>
      </p:sp>
      <p:sp>
        <p:nvSpPr>
          <p:cNvPr id="130" name="stat-side-arrow">
            <a:extLst xmlns:a="http://schemas.openxmlformats.org/drawingml/2006/main">
              <a:ext uri="{FF2B5EF4-FFF2-40B4-BE49-F238E27FC236}">
                <a16:creationId xmlns:a16="http://schemas.microsoft.com/office/drawing/2014/main" id="{25607420-29AB-48F4-9DE8-2CA9C19A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53613" y="34432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F6A58"/>
          </a:solidFill>
          <a:ln xmlns:a="http://schemas.openxmlformats.org/drawingml/2006/main" w="0">
            <a:solidFill>
              <a:srgbClr val="EF6A58"/>
            </a:solidFill>
            <a:prstDash val="solid"/>
          </a:ln>
        </p:spPr>
      </p:sp>
      <p:sp>
        <p:nvSpPr>
          <p:cNvPr id="131" name="stat-side-label">
            <a:extLst xmlns:a="http://schemas.openxmlformats.org/drawingml/2006/main">
              <a:ext uri="{FF2B5EF4-FFF2-40B4-BE49-F238E27FC236}">
                <a16:creationId xmlns:a16="http://schemas.microsoft.com/office/drawing/2014/main" id="{87AF9DDC-9373-46D3-A40D-E5DE1BB7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6A5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6A58"/>
                </a:solidFill>
                <a:latin typeface="Arial"/>
                <a:ea typeface="Arial"/>
                <a:cs typeface="Arial"/>
              </a:rPr>
              <a:t>direct statistic side path</a:t>
            </a:r>
          </a:p>
        </p:txBody>
      </p:sp>
      <p:sp>
        <p:nvSpPr>
          <p:cNvPr id="132" name="evidence-boundary-strip">
            <a:extLst xmlns:a="http://schemas.openxmlformats.org/drawingml/2006/main">
              <a:ext uri="{FF2B5EF4-FFF2-40B4-BE49-F238E27FC236}">
                <a16:creationId xmlns:a16="http://schemas.microsoft.com/office/drawing/2014/main" id="{FBEF3333-3109-4ECE-8E58-E76F1199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219700"/>
            <a:ext cx="11734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evidence-strip-rule">
            <a:extLst xmlns:a="http://schemas.openxmlformats.org/drawingml/2006/main">
              <a:ext uri="{FF2B5EF4-FFF2-40B4-BE49-F238E27FC236}">
                <a16:creationId xmlns:a16="http://schemas.microsoft.com/office/drawing/2014/main" id="{DB0EA519-78A4-4C10-8E90-042A463F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219700"/>
            <a:ext cx="1173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E1E8"/>
            </a:solidFill>
            <a:prstDash val="solid"/>
          </a:ln>
        </p:spPr>
      </p:sp>
      <p:sp>
        <p:nvSpPr>
          <p:cNvPr id="134" name="verified-screen-label">
            <a:extLst xmlns:a="http://schemas.openxmlformats.org/drawingml/2006/main">
              <a:ext uri="{FF2B5EF4-FFF2-40B4-BE49-F238E27FC236}">
                <a16:creationId xmlns:a16="http://schemas.microsoft.com/office/drawing/2014/main" id="{79E77479-5658-4F8B-95D7-4FDBC5E1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816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CURRENT VERIFIED SCREEN</a:t>
            </a:r>
          </a:p>
        </p:txBody>
      </p:sp>
      <p:sp>
        <p:nvSpPr>
          <p:cNvPr id="135" name="verified-screen-claim">
            <a:extLst xmlns:a="http://schemas.openxmlformats.org/drawingml/2006/main">
              <a:ext uri="{FF2B5EF4-FFF2-40B4-BE49-F238E27FC236}">
                <a16:creationId xmlns:a16="http://schemas.microsoft.com/office/drawing/2014/main" id="{EDFCDF97-F2FD-4360-82E7-B1A22F61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6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36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Full exceeds strongest admitted</a:t>
            </a:r>
          </a:p>
          <a:p xmlns:a="http://schemas.openxmlformats.org/drawingml/2006/main">
            <a:pPr algn="l">
              <a:defRPr sz="136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36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baseline on 6 / 8 datasets</a:t>
            </a:r>
          </a:p>
        </p:txBody>
      </p:sp>
      <p:sp>
        <p:nvSpPr>
          <p:cNvPr id="136" name="dataset-dot-1">
            <a:extLst xmlns:a="http://schemas.openxmlformats.org/drawingml/2006/main">
              <a:ext uri="{FF2B5EF4-FFF2-40B4-BE49-F238E27FC236}">
                <a16:creationId xmlns:a16="http://schemas.microsoft.com/office/drawing/2014/main" id="{9C80D54F-445F-40D7-99FE-15E4BC1C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7" name="dataset-label-1">
            <a:extLst xmlns:a="http://schemas.openxmlformats.org/drawingml/2006/main">
              <a:ext uri="{FF2B5EF4-FFF2-40B4-BE49-F238E27FC236}">
                <a16:creationId xmlns:a16="http://schemas.microsoft.com/office/drawing/2014/main" id="{27103A3B-3CFF-4AC3-BEE0-010E57BA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A09</a:t>
            </a:r>
          </a:p>
        </p:txBody>
      </p:sp>
      <p:sp>
        <p:nvSpPr>
          <p:cNvPr id="138" name="dataset-dot-2">
            <a:extLst xmlns:a="http://schemas.openxmlformats.org/drawingml/2006/main">
              <a:ext uri="{FF2B5EF4-FFF2-40B4-BE49-F238E27FC236}">
                <a16:creationId xmlns:a16="http://schemas.microsoft.com/office/drawing/2014/main" id="{E560DFF9-353F-430E-B717-0E8391E9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15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9" name="dataset-label-2">
            <a:extLst xmlns:a="http://schemas.openxmlformats.org/drawingml/2006/main">
              <a:ext uri="{FF2B5EF4-FFF2-40B4-BE49-F238E27FC236}">
                <a16:creationId xmlns:a16="http://schemas.microsoft.com/office/drawing/2014/main" id="{78AC2CA6-BD9F-47C6-AECD-FF4C6870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A15</a:t>
            </a:r>
          </a:p>
        </p:txBody>
      </p:sp>
      <p:sp>
        <p:nvSpPr>
          <p:cNvPr id="140" name="dataset-dot-3">
            <a:extLst xmlns:a="http://schemas.openxmlformats.org/drawingml/2006/main">
              <a:ext uri="{FF2B5EF4-FFF2-40B4-BE49-F238E27FC236}">
                <a16:creationId xmlns:a16="http://schemas.microsoft.com/office/drawing/2014/main" id="{383441AC-9D27-434D-868B-E8F45086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15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1" name="dataset-label-3">
            <a:extLst xmlns:a="http://schemas.openxmlformats.org/drawingml/2006/main">
              <a:ext uri="{FF2B5EF4-FFF2-40B4-BE49-F238E27FC236}">
                <a16:creationId xmlns:a16="http://schemas.microsoft.com/office/drawing/2014/main" id="{85A0D017-DB24-4E7A-AAE0-B31A7689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A17</a:t>
            </a:r>
          </a:p>
        </p:txBody>
      </p:sp>
      <p:sp>
        <p:nvSpPr>
          <p:cNvPr id="142" name="dataset-dot-4">
            <a:extLst xmlns:a="http://schemas.openxmlformats.org/drawingml/2006/main">
              <a:ext uri="{FF2B5EF4-FFF2-40B4-BE49-F238E27FC236}">
                <a16:creationId xmlns:a16="http://schemas.microsoft.com/office/drawing/2014/main" id="{E4551CFD-D857-49DA-9F47-C161A871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115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3" name="dataset-label-4">
            <a:extLst xmlns:a="http://schemas.openxmlformats.org/drawingml/2006/main">
              <a:ext uri="{FF2B5EF4-FFF2-40B4-BE49-F238E27FC236}">
                <a16:creationId xmlns:a16="http://schemas.microsoft.com/office/drawing/2014/main" id="{4B38005C-8594-466D-BF86-B1DB6950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Junyi</a:t>
            </a:r>
          </a:p>
        </p:txBody>
      </p:sp>
      <p:sp>
        <p:nvSpPr>
          <p:cNvPr id="144" name="dataset-dot-5">
            <a:extLst xmlns:a="http://schemas.openxmlformats.org/drawingml/2006/main">
              <a:ext uri="{FF2B5EF4-FFF2-40B4-BE49-F238E27FC236}">
                <a16:creationId xmlns:a16="http://schemas.microsoft.com/office/drawing/2014/main" id="{36618C1F-893F-453C-84AB-8857AE29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15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5" name="dataset-label-5">
            <a:extLst xmlns:a="http://schemas.openxmlformats.org/drawingml/2006/main">
              <a:ext uri="{FF2B5EF4-FFF2-40B4-BE49-F238E27FC236}">
                <a16:creationId xmlns:a16="http://schemas.microsoft.com/office/drawing/2014/main" id="{2BF4C4BC-762C-407B-988E-38E2CD3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NIPS</a:t>
            </a:r>
          </a:p>
        </p:txBody>
      </p:sp>
      <p:sp>
        <p:nvSpPr>
          <p:cNvPr id="146" name="dataset-dot-6">
            <a:extLst xmlns:a="http://schemas.openxmlformats.org/drawingml/2006/main">
              <a:ext uri="{FF2B5EF4-FFF2-40B4-BE49-F238E27FC236}">
                <a16:creationId xmlns:a16="http://schemas.microsoft.com/office/drawing/2014/main" id="{B21F4628-9AB7-41FA-AB93-D3AE6927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115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7" name="dataset-label-6">
            <a:extLst xmlns:a="http://schemas.openxmlformats.org/drawingml/2006/main">
              <a:ext uri="{FF2B5EF4-FFF2-40B4-BE49-F238E27FC236}">
                <a16:creationId xmlns:a16="http://schemas.microsoft.com/office/drawing/2014/main" id="{BE0F56E8-1457-436F-804F-695D4136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Slep</a:t>
            </a:r>
          </a:p>
        </p:txBody>
      </p:sp>
      <p:sp>
        <p:nvSpPr>
          <p:cNvPr id="148" name="dataset-dot-7">
            <a:extLst xmlns:a="http://schemas.openxmlformats.org/drawingml/2006/main">
              <a:ext uri="{FF2B5EF4-FFF2-40B4-BE49-F238E27FC236}">
                <a16:creationId xmlns:a16="http://schemas.microsoft.com/office/drawing/2014/main" id="{9E7454D2-B3DA-4B51-84F9-2D28BB2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115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88F"/>
            </a:solidFill>
            <a:prstDash val="solid"/>
          </a:ln>
        </p:spPr>
      </p:sp>
      <p:sp>
        <p:nvSpPr>
          <p:cNvPr id="149" name="dataset-fail-a-7">
            <a:extLst xmlns:a="http://schemas.openxmlformats.org/drawingml/2006/main">
              <a:ext uri="{FF2B5EF4-FFF2-40B4-BE49-F238E27FC236}">
                <a16:creationId xmlns:a16="http://schemas.microsoft.com/office/drawing/2014/main" id="{5DAC7FBD-B190-4903-B26E-D4B4CC2C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53150"/>
            <a:ext cx="762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F6A58"/>
            </a:solidFill>
            <a:prstDash val="solid"/>
          </a:ln>
        </p:spPr>
      </p:sp>
      <p:sp>
        <p:nvSpPr>
          <p:cNvPr id="150" name="dataset-fail-b-7">
            <a:extLst xmlns:a="http://schemas.openxmlformats.org/drawingml/2006/main">
              <a:ext uri="{FF2B5EF4-FFF2-40B4-BE49-F238E27FC236}">
                <a16:creationId xmlns:a16="http://schemas.microsoft.com/office/drawing/2014/main" id="{5823A5A4-29CE-4A8E-A030-0B500563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29350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F6A58"/>
            </a:solidFill>
            <a:prstDash val="solid"/>
          </a:ln>
        </p:spPr>
      </p:sp>
      <p:sp>
        <p:nvSpPr>
          <p:cNvPr id="151" name="dataset-label-7">
            <a:extLst xmlns:a="http://schemas.openxmlformats.org/drawingml/2006/main">
              <a:ext uri="{FF2B5EF4-FFF2-40B4-BE49-F238E27FC236}">
                <a16:creationId xmlns:a16="http://schemas.microsoft.com/office/drawing/2014/main" id="{0C6A44F7-6D66-49CE-AF7A-9AE6CDB0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A12</a:t>
            </a:r>
          </a:p>
        </p:txBody>
      </p:sp>
      <p:sp>
        <p:nvSpPr>
          <p:cNvPr id="152" name="dataset-dot-8">
            <a:extLst xmlns:a="http://schemas.openxmlformats.org/drawingml/2006/main">
              <a:ext uri="{FF2B5EF4-FFF2-40B4-BE49-F238E27FC236}">
                <a16:creationId xmlns:a16="http://schemas.microsoft.com/office/drawing/2014/main" id="{129C1A67-E926-48F3-8A11-2CF6FB62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115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788F"/>
            </a:solidFill>
            <a:prstDash val="solid"/>
          </a:ln>
        </p:spPr>
      </p:sp>
      <p:sp>
        <p:nvSpPr>
          <p:cNvPr id="153" name="dataset-fail-a-8">
            <a:extLst xmlns:a="http://schemas.openxmlformats.org/drawingml/2006/main">
              <a:ext uri="{FF2B5EF4-FFF2-40B4-BE49-F238E27FC236}">
                <a16:creationId xmlns:a16="http://schemas.microsoft.com/office/drawing/2014/main" id="{ED9FFCDD-AAC3-4434-93FD-0B152C43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153150"/>
            <a:ext cx="762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F6A58"/>
            </a:solidFill>
            <a:prstDash val="solid"/>
          </a:ln>
        </p:spPr>
      </p:sp>
      <p:sp>
        <p:nvSpPr>
          <p:cNvPr id="154" name="dataset-fail-b-8">
            <a:extLst xmlns:a="http://schemas.openxmlformats.org/drawingml/2006/main">
              <a:ext uri="{FF2B5EF4-FFF2-40B4-BE49-F238E27FC236}">
                <a16:creationId xmlns:a16="http://schemas.microsoft.com/office/drawing/2014/main" id="{5151DB2E-7FD4-4638-91B5-F272AE73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229350"/>
            <a:ext cx="76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F6A58"/>
            </a:solidFill>
            <a:prstDash val="solid"/>
          </a:ln>
        </p:spPr>
      </p:sp>
      <p:sp>
        <p:nvSpPr>
          <p:cNvPr id="155" name="dataset-label-8">
            <a:extLst xmlns:a="http://schemas.openxmlformats.org/drawingml/2006/main">
              <a:ext uri="{FF2B5EF4-FFF2-40B4-BE49-F238E27FC236}">
                <a16:creationId xmlns:a16="http://schemas.microsoft.com/office/drawing/2014/main" id="{1B064FFA-5946-44DE-8095-623444A4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Statics</a:t>
            </a:r>
          </a:p>
        </p:txBody>
      </p:sp>
      <p:sp>
        <p:nvSpPr>
          <p:cNvPr id="156" name="evidence-divider-1">
            <a:extLst xmlns:a="http://schemas.openxmlformats.org/drawingml/2006/main">
              <a:ext uri="{FF2B5EF4-FFF2-40B4-BE49-F238E27FC236}">
                <a16:creationId xmlns:a16="http://schemas.microsoft.com/office/drawing/2014/main" id="{4034163C-874F-485A-BBF0-95CF9EDE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29250"/>
            <a:ext cx="953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57" name="contribution-accounting-label">
            <a:extLst xmlns:a="http://schemas.openxmlformats.org/drawingml/2006/main">
              <a:ext uri="{FF2B5EF4-FFF2-40B4-BE49-F238E27FC236}">
                <a16:creationId xmlns:a16="http://schemas.microsoft.com/office/drawing/2014/main" id="{24836CED-166C-476A-8EA6-95280D6F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81625"/>
            <a:ext cx="338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CONTRIBUTION ACCOUNTING</a:t>
            </a:r>
          </a:p>
        </p:txBody>
      </p:sp>
      <p:sp>
        <p:nvSpPr>
          <p:cNvPr id="158" name="contribution-accounting-core">
            <a:extLst xmlns:a="http://schemas.openxmlformats.org/drawingml/2006/main">
              <a:ext uri="{FF2B5EF4-FFF2-40B4-BE49-F238E27FC236}">
                <a16:creationId xmlns:a16="http://schemas.microsoft.com/office/drawing/2014/main" id="{6127A921-0581-4459-8578-6C2A59B3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86425"/>
            <a:ext cx="31908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6F6"/>
          </a:solidFill>
          <a:ln xmlns:a="http://schemas.openxmlformats.org/drawingml/2006/main" w="11430">
            <a:solidFill>
              <a:srgbClr val="087F8C"/>
            </a:solidFill>
            <a:prstDash val="solid"/>
          </a:ln>
        </p:spPr>
      </p:sp>
      <p:sp>
        <p:nvSpPr>
          <p:cNvPr id="159" name="contribution-accounting-core-label">
            <a:extLst xmlns:a="http://schemas.openxmlformats.org/drawingml/2006/main">
              <a:ext uri="{FF2B5EF4-FFF2-40B4-BE49-F238E27FC236}">
                <a16:creationId xmlns:a16="http://schemas.microsoft.com/office/drawing/2014/main" id="{17E73356-F70F-4DE5-A19D-DA31900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24525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7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Selective-SSM: 5 / 5 strict matched ablations</a:t>
            </a:r>
          </a:p>
        </p:txBody>
      </p:sp>
      <p:sp>
        <p:nvSpPr>
          <p:cNvPr id="160" name="contribution-accounting-other">
            <a:extLst xmlns:a="http://schemas.openxmlformats.org/drawingml/2006/main">
              <a:ext uri="{FF2B5EF4-FFF2-40B4-BE49-F238E27FC236}">
                <a16:creationId xmlns:a16="http://schemas.microsoft.com/office/drawing/2014/main" id="{29E45B9A-8366-408D-99FF-E6AE0D56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72200"/>
            <a:ext cx="309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275"/>
          </a:bodyPr>
          <a:lstStyle xmlns:a="http://schemas.openxmlformats.org/drawingml/2006/main"/>
          <a:p xmlns:a="http://schemas.openxmlformats.org/drawingml/2006/main">
            <a:pPr algn="ctr">
              <a:defRPr sz="111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Other active modules: executed</a:t>
            </a:r>
          </a:p>
          <a:p xmlns:a="http://schemas.openxmlformats.org/drawingml/2006/main">
            <a:pPr algn="ctr">
              <a:defRPr sz="1110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not independently proved 5/5</a:t>
            </a:r>
          </a:p>
        </p:txBody>
      </p:sp>
      <p:sp>
        <p:nvSpPr>
          <p:cNvPr id="161" name="evidence-divider-2">
            <a:extLst xmlns:a="http://schemas.openxmlformats.org/drawingml/2006/main">
              <a:ext uri="{FF2B5EF4-FFF2-40B4-BE49-F238E27FC236}">
                <a16:creationId xmlns:a16="http://schemas.microsoft.com/office/drawing/2014/main" id="{136D3729-5E24-48D6-B0F8-99D714AA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953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2" name="claim-boundary-label">
            <a:extLst xmlns:a="http://schemas.openxmlformats.org/drawingml/2006/main">
              <a:ext uri="{FF2B5EF4-FFF2-40B4-BE49-F238E27FC236}">
                <a16:creationId xmlns:a16="http://schemas.microsoft.com/office/drawing/2014/main" id="{388B0F43-28A3-4C3D-A014-D9677E3C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81625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8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88F"/>
                </a:solidFill>
                <a:latin typeface="Arial"/>
                <a:ea typeface="Arial"/>
                <a:cs typeface="Arial"/>
              </a:rPr>
              <a:t>CLAIM BOUNDARY</a:t>
            </a:r>
          </a:p>
        </p:txBody>
      </p:sp>
      <p:sp>
        <p:nvSpPr>
          <p:cNvPr id="163" name="claim-boundary-body">
            <a:extLst xmlns:a="http://schemas.openxmlformats.org/drawingml/2006/main">
              <a:ext uri="{FF2B5EF4-FFF2-40B4-BE49-F238E27FC236}">
                <a16:creationId xmlns:a16="http://schemas.microsoft.com/office/drawing/2014/main" id="{1E0D7AAC-3D4A-4AD1-893F-4B69969B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48325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6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36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fold 0 · seed 42 · validation only</a:t>
            </a:r>
          </a:p>
          <a:p xmlns:a="http://schemas.openxmlformats.org/drawingml/2006/main">
            <a:pPr algn="l">
              <a:defRPr sz="136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36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test access = false</a:t>
            </a:r>
          </a:p>
        </p:txBody>
      </p:sp>
      <p:sp>
        <p:nvSpPr>
          <p:cNvPr id="164" name="claim-boundary-warning">
            <a:extLst xmlns:a="http://schemas.openxmlformats.org/drawingml/2006/main">
              <a:ext uri="{FF2B5EF4-FFF2-40B4-BE49-F238E27FC236}">
                <a16:creationId xmlns:a16="http://schemas.microsoft.com/office/drawing/2014/main" id="{32900F70-6102-4541-8961-2524E1E9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00775"/>
            <a:ext cx="33718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D79A22"/>
            </a:solidFill>
            <a:prstDash val="solid"/>
          </a:ln>
        </p:spPr>
      </p:sp>
      <p:sp>
        <p:nvSpPr>
          <p:cNvPr id="165" name="claim-boundary-warning-label">
            <a:extLst xmlns:a="http://schemas.openxmlformats.org/drawingml/2006/main">
              <a:ext uri="{FF2B5EF4-FFF2-40B4-BE49-F238E27FC236}">
                <a16:creationId xmlns:a16="http://schemas.microsoft.com/office/drawing/2014/main" id="{29B7A664-0EC3-4ABC-8B50-E01FF1DB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6181725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supporting evidence</a:t>
            </a:r>
          </a:p>
          <a:p xmlns:a="http://schemas.openxmlformats.org/drawingml/2006/main">
            <a:pPr algn="ctr">
              <a:defRPr sz="103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not five-fold / multi-seed / universal SOTA</a:t>
            </a:r>
          </a:p>
        </p:txBody>
      </p:sp>
    </p:spTree>
    <p:extLst>
      <p:ext uri="{BB962C8B-B14F-4D97-AF65-F5344CB8AC3E}">
        <p14:creationId xmlns:p14="http://schemas.microsoft.com/office/powerpoint/2010/main" val="1798449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2026-08-24T15:37:41.7850000Z</dcterms:created>
  <dcterms:modified xsi:type="dcterms:W3CDTF">2026-08-24T15:37:41.7850000Z</dcterms:modified>
</coreProperties>
</file>